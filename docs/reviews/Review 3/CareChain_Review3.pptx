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57" r:id="rId4"/>
    <p:sldId id="258" r:id="rId5"/>
    <p:sldId id="259" r:id="rId6"/>
    <p:sldId id="270" r:id="rId7"/>
    <p:sldId id="260" r:id="rId8"/>
    <p:sldId id="261" r:id="rId9"/>
    <p:sldId id="264" r:id="rId10"/>
    <p:sldId id="265" r:id="rId11"/>
    <p:sldId id="266" r:id="rId12"/>
    <p:sldId id="267" r:id="rId13"/>
    <p:sldId id="271" r:id="rId14"/>
    <p:sldId id="268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9" y="5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CareChain: a patient-controlled health record system. Review 3, 28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the dashed box with the screenshot of the actual approval mail and fill in the Turnitin values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aim in one line, then the four ideas that follow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Problem, parts, key idea, evidence, and the honest status in the last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table by column. The takeaway line is the bridge to the research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table by column. The takeaway line is the bridge to the research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gaps, each paired with what CareChain does and how far it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objective maps to a measurement in the results. SDG 3 (health) and SDG 9 (innovation). TRL 4 as recorded in the IDF: technology validated in a laboratory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Rules and history on the chain; bulky and private data off it. Only the CID is stored on-chain, so cost does not depend on file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requirement is checkable by a test or a run. FR7 is the one that is only partly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modules. Module 4 is the focus of the invention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Left: real screenshots of the running portals. Right: the access cycle, denied then granted then denied. Gas measured on a local EVM; no file-size dependence because only the CID is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1,000 synthetic records, 500 integrity trials, cache lifetimes 60 to 900 s. The 0% for the live check follows from how it works, so the experiment shows the size of the problem it removes.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what was built and measured, then the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References are numbered as cited in the literature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874519"/>
            <a:ext cx="8924544" cy="137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Times New Roman"/>
                <a:cs typeface="Times New Roman"/>
              </a:rPr>
              <a:t>B.Tech. Computer Science and Engineering (Information Security)</a:t>
            </a:r>
            <a:br/>
            <a:r>
              <a:rPr sz="2000" b="1" i="0">
                <a:solidFill>
                  <a:srgbClr val="1A1A1A"/>
                </a:solidFill>
                <a:latin typeface="Times New Roman"/>
                <a:cs typeface="Times New Roman"/>
              </a:rPr>
              <a:t>BCSE497J - Project-I</a:t>
            </a:r>
            <a:br/>
            <a:r>
              <a:rPr sz="4000" b="1" i="0">
                <a:solidFill>
                  <a:srgbClr val="0B2A4A"/>
                </a:solidFill>
                <a:latin typeface="Times New Roman"/>
                <a:cs typeface="Times New Roman"/>
              </a:rPr>
              <a:t>CareChain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429000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 member: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Ashish Anil Sikaria		  (23BCI0218)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Dr. Selvi M</a:t>
            </a:r>
            <a:endParaRPr lang="en-US" sz="2000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20"/>
              </a:spcBef>
              <a:buFont typeface="Times New Roman"/>
              <a:tabLst>
                <a:tab pos="149225" algn="l"/>
              </a:tabLst>
            </a:pPr>
            <a:r>
              <a:rPr sz="1800" b="0" i="0">
                <a:solidFill>
                  <a:srgbClr val="4A5B6E"/>
                </a:solidFill>
                <a:latin typeface="Times New Roman"/>
                <a:cs typeface="Times New Roman"/>
              </a:rPr>
              <a:t>Project Review 3  |  28-10-2026</a:t>
            </a: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27-10-2026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2A4A"/>
                </a:solidFill>
                <a:latin typeface="Times New Roman"/>
                <a:cs typeface="Times New Roman"/>
              </a:rPr>
              <a:t>To build CareChain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, a patient-controlled health record system in which every download is checked against the live permission and the doctor's licence, and readable data never reaches the server disk.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546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264408"/>
            <a:ext cx="64008" cy="160934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227832"/>
            <a:ext cx="2240280" cy="1682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800" b="1" i="0">
                <a:solidFill>
                  <a:srgbClr val="0B2A4A"/>
                </a:solidFill>
                <a:latin typeface="Times New Roman"/>
                <a:cs typeface="Times New Roman"/>
              </a:rPr>
              <a:t>Patient owns access</a:t>
            </a:r>
          </a:p>
          <a:p>
            <a:pPr marL="0" indent="0">
              <a:spcAft>
                <a:spcPts val="4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Grant and revoke are signed by the patient's own wallet.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31546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93008" y="3264408"/>
            <a:ext cx="64008" cy="160934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3227832"/>
            <a:ext cx="2240280" cy="1682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800" b="1" i="0">
                <a:solidFill>
                  <a:srgbClr val="0B2A4A"/>
                </a:solidFill>
                <a:latin typeface="Times New Roman"/>
                <a:cs typeface="Times New Roman"/>
              </a:rPr>
              <a:t>Live check</a:t>
            </a:r>
          </a:p>
          <a:p>
            <a:pPr marL="0" indent="0">
              <a:spcAft>
                <a:spcPts val="4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Permission and licence are checked when the file is decrypted.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31546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6" y="3264408"/>
            <a:ext cx="64008" cy="160934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3227832"/>
            <a:ext cx="2240280" cy="1682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800" b="1" i="0">
                <a:solidFill>
                  <a:srgbClr val="0B2A4A"/>
                </a:solidFill>
                <a:latin typeface="Times New Roman"/>
                <a:cs typeface="Times New Roman"/>
              </a:rPr>
              <a:t>Decrypt in memory</a:t>
            </a:r>
          </a:p>
          <a:p>
            <a:pPr marL="0" indent="0">
              <a:spcAft>
                <a:spcPts val="4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Plaintext streams from RAM. Nothing readable is written to disk.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3104" y="31546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33104" y="3264408"/>
            <a:ext cx="64008" cy="160934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97696" y="3227832"/>
            <a:ext cx="2240280" cy="16824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800" b="1" i="0">
                <a:solidFill>
                  <a:srgbClr val="0B2A4A"/>
                </a:solidFill>
                <a:latin typeface="Times New Roman"/>
                <a:cs typeface="Times New Roman"/>
              </a:rPr>
              <a:t>Detect tampering</a:t>
            </a:r>
          </a:p>
          <a:p>
            <a:pPr marL="0" indent="0">
              <a:spcAft>
                <a:spcPts val="4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AES-GCM tag and the on-chain CID are checked before release.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500" b="0" i="0">
                <a:solidFill>
                  <a:srgbClr val="4A5B6E"/>
                </a:solidFill>
                <a:latin typeface="Times New Roman"/>
                <a:cs typeface="Times New Roman"/>
              </a:rPr>
              <a:t>Design target: a patient-visible, tamper-evident record system whose cost on the chain does not grow with file size.</a:t>
            </a:r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7406640" cy="4846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>
              <a:spcAft>
                <a:spcPts val="900"/>
              </a:spcAft>
              <a:buClr>
                <a:srgbClr val="0E7C86"/>
              </a:buClr>
              <a:buChar char="•"/>
            </a:pPr>
            <a:r>
              <a:rPr sz="1650" b="0" i="0">
                <a:solidFill>
                  <a:srgbClr val="1A1A1A"/>
                </a:solidFill>
                <a:latin typeface="Times New Roman"/>
                <a:cs typeface="Times New Roman"/>
              </a:rPr>
              <a:t>Hospital record databases are single points of failure: one leaked admin key exposes everyone, and a revoked doctor may keep reading from a cache.</a:t>
            </a:r>
          </a:p>
          <a:p>
            <a:pPr marL="285750" indent="-285750">
              <a:spcAft>
                <a:spcPts val="900"/>
              </a:spcAft>
              <a:buClr>
                <a:srgbClr val="0E7C86"/>
              </a:buClr>
              <a:buChar char="•"/>
            </a:pPr>
            <a:r>
              <a:rPr sz="1650" b="0" i="0">
                <a:solidFill>
                  <a:srgbClr val="1A1A1A"/>
                </a:solidFill>
                <a:latin typeface="Times New Roman"/>
                <a:cs typeface="Times New Roman"/>
              </a:rPr>
              <a:t>CareChain splits the work: React portals, a Node.js gateway, IPFS for encrypted files, and a Solidity contract for the doctor registry, permissions and events.</a:t>
            </a:r>
          </a:p>
          <a:p>
            <a:pPr marL="285750" indent="-285750">
              <a:spcAft>
                <a:spcPts val="900"/>
              </a:spcAft>
              <a:buClr>
                <a:srgbClr val="0E7C86"/>
              </a:buClr>
              <a:buChar char="•"/>
            </a:pPr>
            <a:r>
              <a:rPr sz="1650" b="0" i="0">
                <a:solidFill>
                  <a:srgbClr val="1A1A1A"/>
                </a:solidFill>
                <a:latin typeface="Times New Roman"/>
                <a:cs typeface="Times New Roman"/>
              </a:rPr>
              <a:t>Login is a signed wallet challenge, so there are no passwords. Files are encrypted with AES-256-GCM and only the CID goes on the chain.</a:t>
            </a:r>
          </a:p>
          <a:p>
            <a:pPr marL="285750" indent="-285750">
              <a:spcAft>
                <a:spcPts val="900"/>
              </a:spcAft>
              <a:buClr>
                <a:srgbClr val="0E7C86"/>
              </a:buClr>
              <a:buChar char="•"/>
            </a:pPr>
            <a:r>
              <a:rPr sz="1650" b="1" i="0">
                <a:solidFill>
                  <a:srgbClr val="1A1A1A"/>
                </a:solidFill>
                <a:latin typeface="Times New Roman"/>
                <a:cs typeface="Times New Roman"/>
              </a:rPr>
              <a:t>Key idea, the dual-gate download: </a:t>
            </a:r>
            <a:r>
              <a:rPr sz="1650" b="0" i="0">
                <a:solidFill>
                  <a:srgbClr val="1A1A1A"/>
                </a:solidFill>
                <a:latin typeface="Times New Roman"/>
                <a:cs typeface="Times New Roman"/>
              </a:rPr>
              <a:t>session, then live permission and licence, then integrity checks, then decrypt in RAM and stream.</a:t>
            </a:r>
          </a:p>
          <a:p>
            <a:pPr marL="285750" indent="-285750">
              <a:spcAft>
                <a:spcPts val="900"/>
              </a:spcAft>
              <a:buClr>
                <a:srgbClr val="0E7C86"/>
              </a:buClr>
              <a:buChar char="•"/>
            </a:pPr>
            <a:r>
              <a:rPr sz="1650" b="0" i="0">
                <a:solidFill>
                  <a:srgbClr val="1A1A1A"/>
                </a:solidFill>
                <a:latin typeface="Times New Roman"/>
                <a:cs typeface="Times New Roman"/>
              </a:rPr>
              <a:t>Tested with an 11-case contract suite, an end-to-end API run and benchmarks on 1,000 synthetic records.</a:t>
            </a:r>
          </a:p>
          <a:p>
            <a:pPr marL="285750" indent="-285750">
              <a:spcAft>
                <a:spcPts val="900"/>
              </a:spcAft>
              <a:buClr>
                <a:srgbClr val="0E7C86"/>
              </a:buClr>
              <a:buChar char="•"/>
            </a:pPr>
            <a:r>
              <a:rPr sz="1650" b="1" i="0">
                <a:solidFill>
                  <a:srgbClr val="1A1A1A"/>
                </a:solidFill>
                <a:latin typeface="Times New Roman"/>
                <a:cs typeface="Times New Roman"/>
              </a:rPr>
              <a:t>Results: </a:t>
            </a:r>
            <a:r>
              <a:rPr sz="1650" b="0" i="0">
                <a:solidFill>
                  <a:srgbClr val="1A1A1A"/>
                </a:solidFill>
                <a:latin typeface="Times New Roman"/>
                <a:cs typeface="Times New Roman"/>
              </a:rPr>
              <a:t>a doctor is denied before a grant, served after it and denied again on the first request after a revoke; a tampered file releases nothing.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087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310896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3000" b="1" i="0">
                <a:solidFill>
                  <a:srgbClr val="0E7C86"/>
                </a:solidFill>
                <a:latin typeface="Times New Roman"/>
                <a:cs typeface="Times New Roman"/>
              </a:rPr>
              <a:t>~300k gas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4A5B6E"/>
                </a:solidFill>
                <a:latin typeface="Times New Roman"/>
                <a:cs typeface="Times New Roman"/>
              </a:rPr>
              <a:t>first record upload, for any file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01752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3063239"/>
            <a:ext cx="310896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3000" b="1" i="0">
                <a:solidFill>
                  <a:srgbClr val="0E7C86"/>
                </a:solidFill>
                <a:latin typeface="Times New Roman"/>
                <a:cs typeface="Times New Roman"/>
              </a:rPr>
              <a:t>0 bytes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4A5B6E"/>
                </a:solidFill>
                <a:latin typeface="Times New Roman"/>
                <a:cs typeface="Times New Roman"/>
              </a:rPr>
              <a:t>written to server disk (disk proxy: about 424 KB)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52628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4572000"/>
            <a:ext cx="310896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3000" b="1" i="0">
                <a:solidFill>
                  <a:srgbClr val="0E7C86"/>
                </a:solidFill>
                <a:latin typeface="Times New Roman"/>
                <a:cs typeface="Times New Roman"/>
              </a:rPr>
              <a:t>375 of 375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4A5B6E"/>
                </a:solidFill>
                <a:latin typeface="Times New Roman"/>
                <a:cs typeface="Times New Roman"/>
              </a:rPr>
              <a:t>tampering and spoofing trials rejected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(1 of 2): Research Papers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27-10-2026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Literature table"/>
          <p:cNvGraphicFramePr>
            <a:graphicFrameLocks noGrp="1"/>
          </p:cNvGraphicFramePr>
          <p:nvPr/>
        </p:nvGraphicFramePr>
        <p:xfrm>
          <a:off x="548640" y="1371600"/>
          <a:ext cx="11155678" cy="4480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Pros / Cons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MedRec, Azaria et al., 2016 [1]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Patient-controlled access to medical data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Ethereum smart contracts manage permissions; records stay in provider storage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+ Tamper-resistant log
- Storage stays with providers, no live licence check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Foundational design; plaintext leakage on a serving server is not addressed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Reen et al., IEEE CICT 2019 [5]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Patient-centric e-health records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Permissioned Ethereum, symmetric and asymmetric crypto, IPFS, patient grant or revoke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+ Encrypted records on IPFS
- Hospital-level access, no licence registry, no RAM-only step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Closest in storage design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Pilares et al., Sensors 2022 [6]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Address EHR challenges with blockchain and IPFS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Reviews 65 proposals, finds 14 challenges, proposes EHRChain on Hyperledger Sawtooth and IPFS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+ Confirms blockchain with IPFS
- Framework level only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Leftover decrypted files and live licence checks not addressed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Romel et al., arXiv 2025 [7]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Separate storage from access control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Per-patient contract, signed time-limited permissions, off-chain FHIR data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+ About 78k gas per grant
- Silent on plaintext on intermediate servers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Under 1.5 s access to a 1 MB record reported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Kenaza et al., arXiv 2026 [8]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Interoperable EHR access control and sharing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Private Hyperledger with IPFS; contracts give patients exclusive control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+ Works with provider systems
- Private network, no wallet login or per-request live query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Zero-disk streaming not addressed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(2 of 2): Prior Patents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27-10-2026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11" name="Patent table"/>
          <p:cNvGraphicFramePr>
            <a:graphicFrameLocks noGrp="1"/>
          </p:cNvGraphicFramePr>
          <p:nvPr/>
        </p:nvGraphicFramePr>
        <p:xfrm>
          <a:off x="548640" y="1371600"/>
          <a:ext cx="11155679" cy="4480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Patent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What it offers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Relevance to CareChain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US 12,235,984 B1 [9]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Patient-owned data with revocation and an immutable audit log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Closest existing system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Does not address server leakage during streaming or an active licence check at decryption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US 11,244,059 B2 [10]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Blockchain for managing access to medical data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Access rules on the chain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Separates the access check from decryption, so servers can serve old or cached data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US 12,292,997 B2 [11]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Inter-hospital record access authentication on blockchain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Hospital-to-hospital sharing through server brokers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CareChain lets patients share directly with verified doctors using wallet signatures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CN 112863629 B [12]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Record storage combining IPFS and blockchain logs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Encrypted files on IPFS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Lacks live doctor licence verification and the dual integrity check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US 11,862,304 B1 [13]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Patient-authorized storage; master index checked, blockchain transaction grants access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 controls who may send or receive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Authorization is enforced at transfer time; no live check at decryption, no in-memory streaming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852160"/>
            <a:ext cx="111556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400" b="0" i="0">
                <a:solidFill>
                  <a:srgbClr val="4A5B6E"/>
                </a:solidFill>
                <a:latin typeface="Times New Roman"/>
                <a:cs typeface="Times New Roman"/>
              </a:rPr>
              <a:t>Common gap: the access check and the decryption are separate events, and the doctor's licence is rarely part of the decision.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7" name="Gap table"/>
          <p:cNvGraphicFramePr>
            <a:graphicFrameLocks noGrp="1"/>
          </p:cNvGraphicFramePr>
          <p:nvPr/>
        </p:nvGraphicFramePr>
        <p:xfrm>
          <a:off x="548640" y="1417320"/>
          <a:ext cx="11155677" cy="41330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 typical designs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CareChain response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Check and decrypt are separate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Permission is read earlier or cached, so a revoked doctor keeps reading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Dual-gate method checks permission and licence at the moment of decryption (benchmarked)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Plaintext touches the disk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Temporary files remain on the gateway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Decrypt and stream from RAM: 0 bytes written (measured)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One integrity check only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Storage or metadata is trusted, not both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GCM tag plus on-chain CID comparison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Licence is outside access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An unverified or expired doctor can receive records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Verified-practitioner registry in the contract, managed by the hospital admin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Passwords still used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 stolen password database breaks the design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Single-use wallet challenge (built and tested)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26280"/>
            <a:ext cx="2194560" cy="1764792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370832"/>
            <a:ext cx="2103120" cy="19110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371600"/>
            <a:ext cx="10607040" cy="2468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>
              <a:spcAft>
                <a:spcPts val="800"/>
              </a:spcAft>
              <a:buClr>
                <a:srgbClr val="0E7C86"/>
              </a:buClr>
              <a:buChar char="•"/>
            </a:pPr>
            <a:r>
              <a:rPr sz="1800" b="1" i="0">
                <a:solidFill>
                  <a:srgbClr val="1A1A1A"/>
                </a:solidFill>
                <a:latin typeface="Times New Roman"/>
                <a:cs typeface="Times New Roman"/>
              </a:rPr>
              <a:t>Patient ownership: </a:t>
            </a: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no hospital or doctor decrypts a file without the patient's verifiable permission.</a:t>
            </a:r>
          </a:p>
          <a:p>
            <a:pPr marL="285750" indent="-285750">
              <a:spcAft>
                <a:spcPts val="800"/>
              </a:spcAft>
              <a:buClr>
                <a:srgbClr val="0E7C86"/>
              </a:buClr>
              <a:buChar char="•"/>
            </a:pPr>
            <a:r>
              <a:rPr sz="1800" b="1" i="0">
                <a:solidFill>
                  <a:srgbClr val="1A1A1A"/>
                </a:solidFill>
                <a:latin typeface="Times New Roman"/>
                <a:cs typeface="Times New Roman"/>
              </a:rPr>
              <a:t>Stop server leaks: </a:t>
            </a: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decrypted files stream through RAM and are never saved on the server disk.</a:t>
            </a:r>
          </a:p>
          <a:p>
            <a:pPr marL="285750" indent="-285750">
              <a:spcAft>
                <a:spcPts val="800"/>
              </a:spcAft>
              <a:buClr>
                <a:srgbClr val="0E7C86"/>
              </a:buClr>
              <a:buChar char="•"/>
            </a:pPr>
            <a:r>
              <a:rPr sz="1800" b="1" i="0">
                <a:solidFill>
                  <a:srgbClr val="1A1A1A"/>
                </a:solidFill>
                <a:latin typeface="Times New Roman"/>
                <a:cs typeface="Times New Roman"/>
              </a:rPr>
              <a:t>Immediate revocation: </a:t>
            </a: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a patient or licence revocation stops access on the next request.</a:t>
            </a:r>
          </a:p>
          <a:p>
            <a:pPr marL="285750" indent="-285750">
              <a:spcAft>
                <a:spcPts val="800"/>
              </a:spcAft>
              <a:buClr>
                <a:srgbClr val="0E7C86"/>
              </a:buClr>
              <a:buChar char="•"/>
            </a:pPr>
            <a:r>
              <a:rPr sz="1800" b="1" i="0">
                <a:solidFill>
                  <a:srgbClr val="1A1A1A"/>
                </a:solidFill>
                <a:latin typeface="Times New Roman"/>
                <a:cs typeface="Times New Roman"/>
              </a:rPr>
              <a:t>Verify integrity: </a:t>
            </a: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tampering or corruption is detected and blocked before delivery.</a:t>
            </a:r>
          </a:p>
          <a:p>
            <a:pPr marL="285750" indent="-285750">
              <a:spcAft>
                <a:spcPts val="800"/>
              </a:spcAft>
              <a:buClr>
                <a:srgbClr val="0E7C86"/>
              </a:buClr>
              <a:buChar char="•"/>
            </a:pPr>
            <a:r>
              <a:rPr sz="1800" b="1" i="0">
                <a:solidFill>
                  <a:srgbClr val="1A1A1A"/>
                </a:solidFill>
                <a:latin typeface="Times New Roman"/>
                <a:cs typeface="Times New Roman"/>
              </a:rPr>
              <a:t>Remove passwords: </a:t>
            </a: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one-time wallet signature challenges replace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38404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Times New Roman"/>
                <a:cs typeface="Times New Roman"/>
              </a:rPr>
              <a:t>Identified SDGs: </a:t>
            </a: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</a:rPr>
              <a:t>SDG 3 and SDG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069080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Times New Roman"/>
                <a:cs typeface="Times New Roman"/>
              </a:rPr>
              <a:t>Readiness: </a:t>
            </a: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</a:rPr>
              <a:t>TRL 4 (lab validated)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20624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1D6"/>
          </a:solidFill>
          <a:ln w="9525">
            <a:solidFill>
              <a:srgbClr val="C985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4297680"/>
            <a:ext cx="342900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1800" b="1" i="0">
                <a:solidFill>
                  <a:srgbClr val="0B2A4A"/>
                </a:solidFill>
                <a:latin typeface="Times New Roman"/>
                <a:cs typeface="Times New Roman"/>
              </a:rPr>
              <a:t>Outcome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Times New Roman"/>
                <a:cs typeface="Times New Roman"/>
              </a:rPr>
              <a:t>Patent: </a:t>
            </a: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IDF is prepared and ready to be filed.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/ Architecture / 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Architecture diagram" descr="CareChain four-layer architecture: client, gateway, storage, blockch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92240" cy="46373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1463040"/>
            <a:ext cx="4480560" cy="4754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i="0">
                <a:solidFill>
                  <a:srgbClr val="0B2A4A"/>
                </a:solidFill>
                <a:latin typeface="Times New Roman"/>
                <a:cs typeface="Times New Roman"/>
              </a:rPr>
              <a:t>Four layers</a:t>
            </a:r>
          </a:p>
          <a:p>
            <a:pPr marL="285750" indent="-285750">
              <a:spcAft>
                <a:spcPts val="600"/>
              </a:spcAft>
              <a:buClr>
                <a:srgbClr val="0E7C86"/>
              </a:buClr>
              <a:buChar char="•"/>
            </a:pPr>
            <a:r>
              <a:rPr sz="1600" b="1" i="0">
                <a:solidFill>
                  <a:srgbClr val="1A1A1A"/>
                </a:solidFill>
                <a:latin typeface="Times New Roman"/>
                <a:cs typeface="Times New Roman"/>
              </a:rPr>
              <a:t>Client: </a:t>
            </a: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React portals for patient, doctor and admin, with a MetaMask wallet.</a:t>
            </a:r>
          </a:p>
          <a:p>
            <a:pPr marL="285750" indent="-285750">
              <a:spcAft>
                <a:spcPts val="600"/>
              </a:spcAft>
              <a:buClr>
                <a:srgbClr val="0E7C86"/>
              </a:buClr>
              <a:buChar char="•"/>
            </a:pPr>
            <a:r>
              <a:rPr sz="1600" b="1" i="0">
                <a:solidFill>
                  <a:srgbClr val="1A1A1A"/>
                </a:solidFill>
                <a:latin typeface="Times New Roman"/>
                <a:cs typeface="Times New Roman"/>
              </a:rPr>
              <a:t>Gateway: </a:t>
            </a: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Node.js and Express. Wallet login, JWT, roles, AES-256-GCM.</a:t>
            </a:r>
          </a:p>
          <a:p>
            <a:pPr marL="285750" indent="-285750">
              <a:spcAft>
                <a:spcPts val="600"/>
              </a:spcAft>
              <a:buClr>
                <a:srgbClr val="0E7C86"/>
              </a:buClr>
              <a:buChar char="•"/>
            </a:pPr>
            <a:r>
              <a:rPr sz="1600" b="1" i="0">
                <a:solidFill>
                  <a:srgbClr val="1A1A1A"/>
                </a:solidFill>
                <a:latin typeface="Times New Roman"/>
                <a:cs typeface="Times New Roman"/>
              </a:rPr>
              <a:t>Storage: </a:t>
            </a: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IPFS holds ciphertext only. MongoDB holds metadata, keys and the share list.</a:t>
            </a:r>
          </a:p>
          <a:p>
            <a:pPr marL="285750" indent="-285750">
              <a:spcAft>
                <a:spcPts val="600"/>
              </a:spcAft>
              <a:buClr>
                <a:srgbClr val="0E7C86"/>
              </a:buClr>
              <a:buChar char="•"/>
            </a:pPr>
            <a:r>
              <a:rPr sz="1600" b="1" i="0">
                <a:solidFill>
                  <a:srgbClr val="1A1A1A"/>
                </a:solidFill>
                <a:latin typeface="Times New Roman"/>
                <a:cs typeface="Times New Roman"/>
              </a:rPr>
              <a:t>Chain: </a:t>
            </a:r>
            <a:r>
              <a:rPr sz="1600" b="0" i="0">
                <a:solidFill>
                  <a:srgbClr val="1A1A1A"/>
                </a:solidFill>
                <a:latin typeface="Times New Roman"/>
                <a:cs typeface="Times New Roman"/>
              </a:rPr>
              <a:t>MedicalRecord.sol holds the doctor registry, permission table and events.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FR table"/>
          <p:cNvGraphicFramePr>
            <a:graphicFrameLocks noGrp="1"/>
          </p:cNvGraphicFramePr>
          <p:nvPr/>
        </p:nvGraphicFramePr>
        <p:xfrm>
          <a:off x="548640" y="1417320"/>
          <a:ext cx="11155680" cy="4773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Requirement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Checked by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FR1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Sign in by signing a one-time challenge with a wallet; no password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API demo, steps 1 to 4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FR2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Encrypt an upload with AES-256-GCM and store only ciphertext on IPFS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API demo, steps 5 and 6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FR3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Register title, type and CID, visible as an on-chain event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Contract tests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FR4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Patient grants or revokes a doctor and it applies to the next request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Contract tests, API demo 7 to 11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FR5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 doctor sees and downloads only records shared with that doctor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Contract tests, API demo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FR6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Administrator verifies or revokes a doctor's licence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Contract tests, admin console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FR7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Before decryption check session, permission, licence, then integrity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API demo and benchmark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FR8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Stream decrypted data from memory; never write it to disk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API demo 14 and benchmark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527048"/>
            <a:ext cx="64008" cy="20208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490472"/>
            <a:ext cx="3337560" cy="20939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0B2A4A"/>
                </a:solidFill>
                <a:latin typeface="Times New Roman"/>
                <a:cs typeface="Times New Roman"/>
              </a:rPr>
              <a:t>1. Smart contract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Times New Roman"/>
                <a:cs typeface="Times New Roman"/>
              </a:rPr>
              <a:t>MedicalRecord.sol: doctor registry, permission table, record pointers and events. Covered by 11 test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527048"/>
            <a:ext cx="64008" cy="20208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490472"/>
            <a:ext cx="3337560" cy="20939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0B2A4A"/>
                </a:solidFill>
                <a:latin typeface="Times New Roman"/>
                <a:cs typeface="Times New Roman"/>
              </a:rPr>
              <a:t>2. Wallet login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Times New Roman"/>
                <a:cs typeface="Times New Roman"/>
              </a:rPr>
              <a:t>EIP-191 challenge with a 256-bit nonce, 10 minute expiry, nonce rotated, then JWT.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83296" y="1527048"/>
            <a:ext cx="64008" cy="20208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337560" cy="20939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0B2A4A"/>
                </a:solidFill>
                <a:latin typeface="Times New Roman"/>
                <a:cs typeface="Times New Roman"/>
              </a:rPr>
              <a:t>3. Encrypt and store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Times New Roman"/>
                <a:cs typeface="Times New Roman"/>
              </a:rPr>
              <a:t>AES-256-GCM with a fresh key and IV per file. Ciphertext pinned to IPFS, CID returned.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3048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64008" cy="20208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886200"/>
            <a:ext cx="3337560" cy="20939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0B2A4A"/>
                </a:solidFill>
                <a:latin typeface="Times New Roman"/>
                <a:cs typeface="Times New Roman"/>
              </a:rPr>
              <a:t>4. Dual-gate stream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Times New Roman"/>
                <a:cs typeface="Times New Roman"/>
              </a:rPr>
              <a:t>Session check, permission and licence check, CID and tag checks, then decrypt in RAM and stream.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3813048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5968" y="3922776"/>
            <a:ext cx="64008" cy="20208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59" y="3886200"/>
            <a:ext cx="3337560" cy="20939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0B2A4A"/>
                </a:solidFill>
                <a:latin typeface="Times New Roman"/>
                <a:cs typeface="Times New Roman"/>
              </a:rPr>
              <a:t>5. Access and licence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Times New Roman"/>
                <a:cs typeface="Times New Roman"/>
              </a:rPr>
              <a:t>Patients grant and revoke access. The hospital admin verifies or revokes doctor licences.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813048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BFC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83296" y="3922776"/>
            <a:ext cx="64008" cy="20208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3886200"/>
            <a:ext cx="3337560" cy="20939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000" b="1" i="0">
                <a:solidFill>
                  <a:srgbClr val="0B2A4A"/>
                </a:solidFill>
                <a:latin typeface="Times New Roman"/>
                <a:cs typeface="Times New Roman"/>
              </a:rPr>
              <a:t>6. Role portals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Times New Roman"/>
                <a:cs typeface="Times New Roman"/>
              </a:rPr>
              <a:t>React portals for patient, doctor and admin with wallet signing.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(1 of 2): Working Prototype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ortal screenshots" descr="Patient and doctor portals of the CareChain prototy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00800" cy="3162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150" b="0" i="0">
                <a:solidFill>
                  <a:srgbClr val="4A5B6E"/>
                </a:solidFill>
                <a:latin typeface="Times New Roman"/>
                <a:cs typeface="Times New Roman"/>
              </a:rPr>
              <a:t>Patient vault and doctor portal of the running prototype</a:t>
            </a:r>
          </a:p>
        </p:txBody>
      </p:sp>
      <p:graphicFrame>
        <p:nvGraphicFramePr>
          <p:cNvPr id="9" name="Demo table"/>
          <p:cNvGraphicFramePr>
            <a:graphicFrameLocks noGrp="1"/>
          </p:cNvGraphicFramePr>
          <p:nvPr/>
        </p:nvGraphicFramePr>
        <p:xfrm>
          <a:off x="7178040" y="1417320"/>
          <a:ext cx="4526280" cy="3383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1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End-to-end API run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Replay of a captured login signature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401 rejected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 downloads before any grant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403 denied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 downloads after the grant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200, bytes identical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Doctor downloads right after revoke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403 denied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One flipped ciphertext bit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500, no plaintext sent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New files in server temp folder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BFCBD8"/>
                      </a:solidFill>
                      <a:prstDash val="solid"/>
                    </a:lnL>
                    <a:lnR w="6350" cap="flat" cmpd="sng" algn="ctr">
                      <a:solidFill>
                        <a:srgbClr val="BFCBD8"/>
                      </a:solidFill>
                      <a:prstDash val="solid"/>
                    </a:lnR>
                    <a:lnT w="6350" cap="flat" cmpd="sng" algn="ctr">
                      <a:solidFill>
                        <a:srgbClr val="BFCBD8"/>
                      </a:solidFill>
                      <a:prstDash val="solid"/>
                    </a:lnT>
                    <a:lnB w="6350" cap="flat" cmpd="sng" algn="ctr">
                      <a:solidFill>
                        <a:srgbClr val="BFCBD8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0292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2468879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2800" b="1" i="0">
                <a:solidFill>
                  <a:srgbClr val="0E7C86"/>
                </a:solidFill>
                <a:latin typeface="Times New Roman"/>
                <a:cs typeface="Times New Roman"/>
              </a:rPr>
              <a:t>11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4A5B6E"/>
                </a:solidFill>
                <a:latin typeface="Times New Roman"/>
                <a:cs typeface="Times New Roman"/>
              </a:rPr>
              <a:t>contract test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50292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5074920"/>
            <a:ext cx="256032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2800" b="1" i="0">
                <a:solidFill>
                  <a:srgbClr val="0E7C86"/>
                </a:solidFill>
                <a:latin typeface="Times New Roman"/>
                <a:cs typeface="Times New Roman"/>
              </a:rPr>
              <a:t>300,065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4A5B6E"/>
                </a:solidFill>
                <a:latin typeface="Times New Roman"/>
                <a:cs typeface="Times New Roman"/>
              </a:rPr>
              <a:t>gas, first addRecord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0292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5074920"/>
            <a:ext cx="2468879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2800" b="1" i="0">
                <a:solidFill>
                  <a:srgbClr val="0E7C86"/>
                </a:solidFill>
                <a:latin typeface="Times New Roman"/>
                <a:cs typeface="Times New Roman"/>
              </a:rPr>
              <a:t>45,910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4A5B6E"/>
                </a:solidFill>
                <a:latin typeface="Times New Roman"/>
                <a:cs typeface="Times New Roman"/>
              </a:rPr>
              <a:t>gas, grant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029200"/>
            <a:ext cx="2697480" cy="1188720"/>
          </a:xfrm>
          <a:prstGeom prst="roundRect">
            <a:avLst>
              <a:gd name="adj" fmla="val 6000"/>
            </a:avLst>
          </a:prstGeom>
          <a:solidFill>
            <a:srgbClr val="E3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507492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100"/>
              </a:spcAft>
              <a:buNone/>
            </a:pPr>
            <a:r>
              <a:rPr sz="2800" b="1" i="0">
                <a:solidFill>
                  <a:srgbClr val="0E7C86"/>
                </a:solidFill>
                <a:latin typeface="Times New Roman"/>
                <a:cs typeface="Times New Roman"/>
              </a:rPr>
              <a:t>24,019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4A5B6E"/>
                </a:solidFill>
                <a:latin typeface="Times New Roman"/>
                <a:cs typeface="Times New Roman"/>
              </a:rPr>
              <a:t>gas, revoke access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(2 of 2): Benchmarks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Latency chart" descr="Latency and disk residue, disk proxy versus CareChain memory p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532120" cy="2133818"/>
          </a:xfrm>
          <a:prstGeom prst="rect">
            <a:avLst/>
          </a:prstGeom>
        </p:spPr>
      </p:pic>
      <p:pic>
        <p:nvPicPr>
          <p:cNvPr id="8" name="Integrity chart" descr="Integrity trials and post-revocation expos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532120" cy="2133818"/>
          </a:xfrm>
          <a:prstGeom prst="rect">
            <a:avLst/>
          </a:prstGeom>
        </p:spPr>
      </p:pic>
      <p:pic>
        <p:nvPicPr>
          <p:cNvPr id="9" name="Gas chart" descr="Gas used by each contract func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5486400" cy="19594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3703320"/>
            <a:ext cx="5394960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rgbClr val="0E7C86"/>
              </a:buClr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</a:rPr>
              <a:t>Memory path wrote 0 bytes; the disk proxy wrote 423,901 bytes per file.</a:t>
            </a:r>
          </a:p>
          <a:p>
            <a:pPr marL="285750" indent="-285750">
              <a:spcAft>
                <a:spcPts val="500"/>
              </a:spcAft>
              <a:buClr>
                <a:srgbClr val="0E7C86"/>
              </a:buClr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</a:rPr>
              <a:t>375 of 375 attacks rejected and 125 of 125 genuine requests accepted.</a:t>
            </a:r>
          </a:p>
          <a:p>
            <a:pPr marL="285750" indent="-285750">
              <a:spcAft>
                <a:spcPts val="500"/>
              </a:spcAft>
              <a:buClr>
                <a:srgbClr val="0E7C86"/>
              </a:buClr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</a:rPr>
              <a:t>A cached permission served 49% to 51% of requests after a revoke; a live check served 0%.</a:t>
            </a:r>
          </a:p>
          <a:p>
            <a:pPr marL="285750" indent="-285750">
              <a:spcAft>
                <a:spcPts val="0"/>
              </a:spcAft>
              <a:buClr>
                <a:srgbClr val="0E7C86"/>
              </a:buClr>
              <a:buChar char="•"/>
            </a:pPr>
            <a:r>
              <a:rPr sz="1500" b="1" i="0">
                <a:solidFill>
                  <a:srgbClr val="C98512"/>
                </a:solidFill>
                <a:latin typeface="Times New Roman"/>
                <a:cs typeface="Times New Roman"/>
              </a:rPr>
              <a:t>Caveats: </a:t>
            </a: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</a:rPr>
              <a:t>synthetic records, a simulated permission table, and timings that depend on the machine (Run A versus Run B).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949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000" b="1" i="0">
                <a:solidFill>
                  <a:srgbClr val="0E7C86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94960" cy="4389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0E7C86"/>
              </a:buClr>
              <a:buChar char="•"/>
            </a:pP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A patient-controlled record system was built from ordinary parts: contract, IPFS, wallet login and a gateway.</a:t>
            </a:r>
          </a:p>
          <a:p>
            <a:pPr marL="285750" indent="-285750">
              <a:spcAft>
                <a:spcPts val="1200"/>
              </a:spcAft>
              <a:buClr>
                <a:srgbClr val="0E7C86"/>
              </a:buClr>
              <a:buChar char="•"/>
            </a:pP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In the runs, a doctor was denied, then served, then denied on the first request after a revoke.</a:t>
            </a:r>
          </a:p>
          <a:p>
            <a:pPr marL="285750" indent="-285750">
              <a:spcAft>
                <a:spcPts val="1200"/>
              </a:spcAft>
              <a:buClr>
                <a:srgbClr val="0E7C86"/>
              </a:buClr>
              <a:buChar char="•"/>
            </a:pP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The memory path wrote 0 bytes to disk and every tampering trial was caught.</a:t>
            </a:r>
          </a:p>
          <a:p>
            <a:pPr marL="285750" indent="-285750">
              <a:spcAft>
                <a:spcPts val="1200"/>
              </a:spcAft>
              <a:buClr>
                <a:srgbClr val="0E7C86"/>
              </a:buClr>
              <a:buChar char="•"/>
            </a:pP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An upload costs about 300,000 gas whatever the file size.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18288" cy="4754880"/>
          </a:xfrm>
          <a:prstGeom prst="rect">
            <a:avLst/>
          </a:prstGeom>
          <a:solidFill>
            <a:srgbClr val="BFC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03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000" b="1" i="0">
                <a:solidFill>
                  <a:srgbClr val="0E7C86"/>
                </a:solidFill>
                <a:latin typeface="Times New Roman"/>
                <a:cs typeface="Times New Roman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0E7C86"/>
              </a:buClr>
              <a:buChar char="•"/>
            </a:pP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Wrap each file key to the doctor's public key so the gateway holds no readable keys.</a:t>
            </a:r>
          </a:p>
          <a:p>
            <a:pPr marL="285750" indent="-285750">
              <a:spcAft>
                <a:spcPts val="1200"/>
              </a:spcAft>
              <a:buClr>
                <a:srgbClr val="0E7C86"/>
              </a:buClr>
              <a:buChar char="•"/>
            </a:pP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Add read logging, time-limited grants and a break-glass emergency path.</a:t>
            </a:r>
          </a:p>
          <a:p>
            <a:pPr marL="285750" indent="-285750">
              <a:spcAft>
                <a:spcPts val="1200"/>
              </a:spcAft>
              <a:buClr>
                <a:srgbClr val="0E7C86"/>
              </a:buClr>
              <a:buChar char="•"/>
            </a:pPr>
            <a:r>
              <a:rPr sz="1800" b="0" i="0">
                <a:solidFill>
                  <a:srgbClr val="1A1A1A"/>
                </a:solidFill>
                <a:latin typeface="Times New Roman"/>
                <a:cs typeface="Times New Roman"/>
              </a:rPr>
              <a:t>Measure on a public test network with realistic record sets.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15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[1] A. Azaria, A. Ekblaw, T. Vieira and A. Lippman, "MedRec: Using blockchain for medical data access and permission management," in Proc. 2nd Int. Conf. Open and Big Data, Vienna, Austria, 2016, pp. 25-30.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[2] Q. Xia et al., "MeDShare: Trust-less medical data sharing among cloud service providers via blockchain," IEEE Access, vol. 5, pp. 14757-14767, 2017.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[3] A. Dubovitskaya, Z. Xu, S. Ryu, M. Schumacher and F. Wang, "Secure and trustable electronic medical records sharing using blockchain," in AMIA Annu. Symp. Proc., 2017, pp. 650-659.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[4] A. Shahnaz, U. Qamar and A. Khalid, "Using blockchain for electronic health records," IEEE Access, vol. 7, pp. 147782-147795, 2019.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[5] G. S. Reen, M. Mohandas and S. Venkatesan, "Decentralized patient centric e-health record management system using blockchain and IPFS," in Proc. IEEE CICT, 2019, doi: 10.1109/CICT48419.2019.9066212.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[6] I. C. A. Pilares, S. Azam, S. Akbulut, M. Jonkman and B. Shanmugam, "Addressing the challenges of electronic health records using blockchain and IPFS," Sensors, vol. 22, no. 11, art. 4032, 2022.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[7] T. H. Romel et al., "A patient-centric blockchain framework for secure electronic health record management: Decoupling data storage from access control," arXiv:2511.17464, 2025.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[8] T. Kenaza, I. Debicha, Y. Fares, M. Sehaki and S. Messai, "A secure and interoperable architecture for electronic health record access control and sharing," arXiv:2602.20830, 2026.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[9] "Patient-empowered data management: A secure blockchain architecture with decentralized ownership," U.S. Patent 12,235,984 B1.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[10] W. A. Yoon and A. Casella, "Blockchain for managing access to medical data," U.S. Patent 11,244,059 B2.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[11] "Inter-hospital electronic medical record access authentication protocol based on blockchains," U.S. Patent 12,292,997 B2.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[12] H. Tang et al., "Block chain-based medical electronic medical record distributed management system and preparation method thereof," Chinese Patent CN 112863629 B.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[13] "Patient authorized medical information storage and access system," U.S. Patent 11,862,304 B1, Health2047, Inc.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[14] J. Benet, "IPFS - Content addressed, versioned, P2P file system," arXiv:1407.3561, 2014.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Times New Roman"/>
                <a:cs typeface="Times New Roman"/>
              </a:rPr>
              <a:t>[15] M. Dworkin, "Recommendation for block cipher modes of operation: Galois/Counter Mode (GCM) and GMAC," NIST SP 800-38D, 2007.</a:t>
            </a:r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2576</Words>
  <Application>Microsoft Office PowerPoint</Application>
  <PresentationFormat>Widescreen</PresentationFormat>
  <Paragraphs>278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B.Tech. Computer Science and Engineering (Information Security) BCSE497J - Project-I CareChain</vt:lpstr>
      <vt:lpstr>Approval Mail From Guide</vt:lpstr>
      <vt:lpstr>Aim</vt:lpstr>
      <vt:lpstr>Abstract</vt:lpstr>
      <vt:lpstr>Literature Review (1 of 2): Research Papers</vt:lpstr>
      <vt:lpstr>Literature Review (2 of 2): Prior Patents</vt:lpstr>
      <vt:lpstr>Research Gap</vt:lpstr>
      <vt:lpstr>Objectives</vt:lpstr>
      <vt:lpstr>Framework / Architecture / Block Diagram</vt:lpstr>
      <vt:lpstr>Functional Requirements</vt:lpstr>
      <vt:lpstr>Modules</vt:lpstr>
      <vt:lpstr>Experiments and Results (1 of 2): Working Prototype</vt:lpstr>
      <vt:lpstr>Experiments and Results (2 of 2): Benchmarks</vt:lpstr>
      <vt:lpstr>Conclusion and 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Ashish Anil Sikaria</cp:lastModifiedBy>
  <cp:revision>13</cp:revision>
  <dcterms:created xsi:type="dcterms:W3CDTF">2026-07-14T06:00:41Z</dcterms:created>
  <dcterms:modified xsi:type="dcterms:W3CDTF">2026-10-27T17:04:16Z</dcterms:modified>
</cp:coreProperties>
</file>