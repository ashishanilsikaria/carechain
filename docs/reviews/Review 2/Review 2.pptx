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257" r:id="rId3"/>
    <p:sldId id="258" r:id="rId4"/>
    <p:sldId id="260" r:id="rId5"/>
    <p:sldId id="261" r:id="rId6"/>
    <p:sldId id="264" r:id="rId7"/>
    <p:sldId id="265" r:id="rId8"/>
    <p:sldId id="266" r:id="rId9"/>
    <p:sldId id="267" r:id="rId10"/>
    <p:sldId id="268"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69"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02-09-2026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02-09-2026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02-09-2026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02-09-2026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02-09-2026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02-09-2026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02-09-2026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02-09-2026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02-09-2026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02-09-2026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02-09-2026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02-09-2026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02-09-2026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12597" y="1730073"/>
            <a:ext cx="8924544" cy="1698927"/>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B.Tech BCSE497J – Project 1</a:t>
            </a:r>
            <a:br>
              <a:rPr lang="en-IN" sz="2000" b="1" dirty="0">
                <a:latin typeface="Times New Roman" panose="02020603050405020304" pitchFamily="18" charset="0"/>
                <a:cs typeface="Times New Roman" panose="02020603050405020304" pitchFamily="18" charset="0"/>
              </a:rPr>
            </a:br>
            <a:br>
              <a:rPr lang="en-IN"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CareChain: Decentralized Electronic Health Record </a:t>
            </a:r>
            <a:r>
              <a:rPr lang="en-US" sz="3200" b="1">
                <a:latin typeface="Times New Roman" panose="02020603050405020304" pitchFamily="18" charset="0"/>
                <a:cs typeface="Times New Roman" panose="02020603050405020304" pitchFamily="18" charset="0"/>
              </a:rPr>
              <a:t>Management System</a:t>
            </a:r>
            <a:endParaRPr lang="en-IN" sz="3200" b="1" dirty="0">
              <a:latin typeface="Times New Roman" panose="02020603050405020304" pitchFamily="18" charset="0"/>
              <a:cs typeface="Times New Roman" panose="02020603050405020304" pitchFamily="18" charset="0"/>
            </a:endParaRP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645123"/>
            <a:ext cx="7071360" cy="2426305"/>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a:t>
            </a:r>
            <a:endParaRPr sz="2000" dirty="0">
              <a:latin typeface="Times New Roman"/>
              <a:cs typeface="Times New Roman"/>
            </a:endParaRPr>
          </a:p>
          <a:p>
            <a:pPr marL="149225" indent="-136525">
              <a:lnSpc>
                <a:spcPct val="100000"/>
              </a:lnSpc>
              <a:spcBef>
                <a:spcPts val="20"/>
              </a:spcBef>
              <a:buFont typeface="Times New Roman"/>
              <a:buChar char="•"/>
              <a:tabLst>
                <a:tab pos="149225" algn="l"/>
              </a:tabLst>
            </a:pPr>
            <a:r>
              <a:rPr lang="en-IN" sz="2000" b="1" dirty="0">
                <a:latin typeface="Times New Roman"/>
                <a:cs typeface="Times New Roman"/>
              </a:rPr>
              <a:t>Ashish Anil Sikaria	  23BCI0218</a:t>
            </a:r>
          </a:p>
          <a:p>
            <a:pPr marL="149225" indent="-136525">
              <a:lnSpc>
                <a:spcPct val="100000"/>
              </a:lnSpc>
              <a:spcBef>
                <a:spcPts val="20"/>
              </a:spcBef>
              <a:buFont typeface="Times New Roman"/>
              <a:buChar char="•"/>
              <a:tabLst>
                <a:tab pos="149225" algn="l"/>
              </a:tabLst>
            </a:pPr>
            <a:endParaRPr lang="en-IN" sz="2000" b="1" dirty="0">
              <a:latin typeface="Times New Roman"/>
              <a:cs typeface="Times New Roman"/>
            </a:endParaRPr>
          </a:p>
          <a:p>
            <a:pPr marL="149225" indent="-136525">
              <a:lnSpc>
                <a:spcPct val="100000"/>
              </a:lnSpc>
              <a:spcBef>
                <a:spcPts val="20"/>
              </a:spcBef>
              <a:buFont typeface="Times New Roman"/>
              <a:buChar char="•"/>
              <a:tabLst>
                <a:tab pos="149225" algn="l"/>
              </a:tabLst>
            </a:pPr>
            <a:endParaRPr lang="en-IN" sz="2000" b="1" dirty="0">
              <a:latin typeface="Times New Roman"/>
              <a:cs typeface="Times New Roman"/>
            </a:endParaRPr>
          </a:p>
          <a:p>
            <a:pPr marL="12700">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a:t>
            </a:r>
            <a:endParaRPr lang="en-US" sz="2000" dirty="0">
              <a:latin typeface="Times New Roman"/>
              <a:cs typeface="Times New Roman"/>
            </a:endParaRPr>
          </a:p>
          <a:p>
            <a:pPr marL="12700">
              <a:lnSpc>
                <a:spcPct val="100000"/>
              </a:lnSpc>
              <a:spcBef>
                <a:spcPts val="20"/>
              </a:spcBef>
            </a:pPr>
            <a:r>
              <a:rPr lang="en-US" sz="2000" dirty="0">
                <a:latin typeface="Times New Roman"/>
                <a:cs typeface="Times New Roman"/>
              </a:rPr>
              <a:t>Dr. Selvi M</a:t>
            </a: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a:xfrm>
            <a:off x="838200" y="1345370"/>
            <a:ext cx="10515600" cy="1416235"/>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To design, develop, and validate a secure, patient-centric Electronic Health Record (EHR) management platform that eliminates centralized single points of failure by decoupling encrypted medical data storage from on-chain access governance.</a:t>
            </a:r>
            <a:endParaRPr lang="en-IN" sz="20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437508" y="501650"/>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02-09-2026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2</a:t>
            </a:fld>
            <a:endParaRPr lang="en-IN"/>
          </a:p>
        </p:txBody>
      </p:sp>
      <p:sp>
        <p:nvSpPr>
          <p:cNvPr id="5" name="TextBox 4">
            <a:extLst>
              <a:ext uri="{FF2B5EF4-FFF2-40B4-BE49-F238E27FC236}">
                <a16:creationId xmlns:a16="http://schemas.microsoft.com/office/drawing/2014/main" id="{A517C2CF-99D3-9EFA-0278-2A3A5881B72B}"/>
              </a:ext>
            </a:extLst>
          </p:cNvPr>
          <p:cNvSpPr txBox="1"/>
          <p:nvPr/>
        </p:nvSpPr>
        <p:spPr>
          <a:xfrm>
            <a:off x="838200" y="2833100"/>
            <a:ext cx="10478784" cy="2862322"/>
          </a:xfrm>
          <a:prstGeom prst="rect">
            <a:avLst/>
          </a:prstGeom>
          <a:noFill/>
        </p:spPr>
        <p:txBody>
          <a:bodyPr wrap="square">
            <a:spAutoFit/>
          </a:bodyPr>
          <a:lstStyle/>
          <a:p>
            <a:r>
              <a:rPr lang="en-IN" b="1" dirty="0"/>
              <a:t>Key Architectural Scope &amp; Deliverables:</a:t>
            </a:r>
          </a:p>
          <a:p>
            <a:endParaRPr lang="en-IN" dirty="0"/>
          </a:p>
          <a:p>
            <a:pPr marL="285750" indent="-285750">
              <a:buFont typeface="Arial" panose="020B0604020202020204" pitchFamily="34" charset="0"/>
              <a:buChar char="•"/>
            </a:pPr>
            <a:r>
              <a:rPr lang="en-IN" dirty="0"/>
              <a:t>Client-Side Cryptography: AES-256-GCM symmetric buffer encryption preventing plaintext exposure to network intermediaries.</a:t>
            </a:r>
          </a:p>
          <a:p>
            <a:pPr marL="285750" indent="-285750">
              <a:buFont typeface="Arial" panose="020B0604020202020204" pitchFamily="34" charset="0"/>
              <a:buChar char="•"/>
            </a:pPr>
            <a:r>
              <a:rPr lang="en-IN" dirty="0"/>
              <a:t>Decentralized Off-Chain Storage: IPFS Pinata cluster storing encrypted clinical payloads with immutable Content Identifiers (CIDs).</a:t>
            </a:r>
          </a:p>
          <a:p>
            <a:pPr marL="285750" indent="-285750">
              <a:buFont typeface="Arial" panose="020B0604020202020204" pitchFamily="34" charset="0"/>
              <a:buChar char="•"/>
            </a:pPr>
            <a:r>
              <a:rPr lang="en-IN" dirty="0"/>
              <a:t>On-Chain Smart Contract Governance: Solidity smart contract (</a:t>
            </a:r>
            <a:r>
              <a:rPr lang="en-IN" dirty="0" err="1"/>
              <a:t>MedicalRecord.sol</a:t>
            </a:r>
            <a:r>
              <a:rPr lang="en-IN" dirty="0"/>
              <a:t>) enforcing patient-controlled access matrices (</a:t>
            </a:r>
            <a:r>
              <a:rPr lang="en-IN" dirty="0" err="1"/>
              <a:t>doctorPermissions</a:t>
            </a:r>
            <a:r>
              <a:rPr lang="en-IN" dirty="0"/>
              <a:t>) and practitioner licensing.</a:t>
            </a:r>
          </a:p>
          <a:p>
            <a:pPr marL="285750" indent="-285750">
              <a:buFont typeface="Arial" panose="020B0604020202020204" pitchFamily="34" charset="0"/>
              <a:buChar char="•"/>
            </a:pPr>
            <a:r>
              <a:rPr lang="en-IN" dirty="0"/>
              <a:t>Multi-Role Web3 Portals: Dedicated responsive interfaces for Patients, Doctors, and Hospital Admins with MetaMask </a:t>
            </a:r>
          </a:p>
        </p:txBody>
      </p:sp>
    </p:spTree>
    <p:extLst>
      <p:ext uri="{BB962C8B-B14F-4D97-AF65-F5344CB8AC3E}">
        <p14:creationId xmlns:p14="http://schemas.microsoft.com/office/powerpoint/2010/main" val="254351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a:bodyPr>
          <a:lstStyle/>
          <a:p>
            <a:r>
              <a:rPr lang="en-US" sz="2400" dirty="0"/>
              <a:t>Centralized hospital EHR databases represent lucrative single points of failure vulnerable to ransomware, unauthorized commercial data exploitation, and catastrophic breaches (over 133M records exposed globally). Patients lack direct sovereignty and real-time auditing over who accesses or shares their sensitive diagnostic history.</a:t>
            </a:r>
          </a:p>
          <a:p>
            <a:endParaRPr lang="en-US" sz="2400" dirty="0"/>
          </a:p>
          <a:p>
            <a:r>
              <a:rPr lang="en-IN" sz="2400" dirty="0" err="1"/>
              <a:t>CareChain</a:t>
            </a:r>
            <a:r>
              <a:rPr lang="en-IN" sz="2400" dirty="0"/>
              <a:t> introduces a zero-trust, hybrid architecture combining client-side AES-256-GCM encryption, decentralized IPFS pinning, and Ethereum/Polygon smart contracts. The platform ensures zero Protected Health Information (PHI) is ever exposed on-chain while providing non-repudiable access logs.</a:t>
            </a:r>
          </a:p>
          <a:p>
            <a:endParaRPr lang="en-IN" sz="24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673814" y="729284"/>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02-09-2026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3453097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Existing systems rely on centralized cloud repositories vulnerable to single-point breaches. CareChain decouples storage to IPFS with 46-byte cryptographic CID references.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Storing large medical files directly on-chain is economically unfeasible. CareChain stores encrypted payloads off-chain, ensuring O(1) constant gas consumption.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Traditional EHRs prevent patients from dynamically granting/revoking doctor access. CareChain smart contracts execute instant on-chain permission updates.</a:t>
            </a:r>
            <a:endParaRPr lang="en-IN" sz="24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02-09-2026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2623102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a:xfrm>
            <a:off x="838200" y="993418"/>
            <a:ext cx="10515600" cy="2171022"/>
          </a:xfrm>
        </p:spPr>
        <p:txBody>
          <a:bodyPr>
            <a:normAutofit/>
          </a:bodyPr>
          <a:lstStyle/>
          <a:p>
            <a:r>
              <a:rPr lang="en-IN" sz="2000" dirty="0">
                <a:latin typeface="Times New Roman" panose="02020603050405020304" pitchFamily="18" charset="0"/>
                <a:cs typeface="Times New Roman" panose="02020603050405020304" pitchFamily="18" charset="0"/>
              </a:rPr>
              <a:t>Develop Solidity Smart Contracts: Deploy </a:t>
            </a:r>
            <a:r>
              <a:rPr lang="en-IN" sz="2000" dirty="0" err="1">
                <a:latin typeface="Times New Roman" panose="02020603050405020304" pitchFamily="18" charset="0"/>
                <a:cs typeface="Times New Roman" panose="02020603050405020304" pitchFamily="18" charset="0"/>
              </a:rPr>
              <a:t>MedicalRecord.sol</a:t>
            </a:r>
            <a:r>
              <a:rPr lang="en-IN" sz="2000" dirty="0">
                <a:latin typeface="Times New Roman" panose="02020603050405020304" pitchFamily="18" charset="0"/>
                <a:cs typeface="Times New Roman" panose="02020603050405020304" pitchFamily="18" charset="0"/>
              </a:rPr>
              <a:t> for granular access control, verified practitioner registry, and tamper-proof event logging </a:t>
            </a:r>
          </a:p>
          <a:p>
            <a:r>
              <a:rPr lang="en-US" sz="2000" dirty="0">
                <a:latin typeface="Times New Roman" panose="02020603050405020304" pitchFamily="18" charset="0"/>
                <a:cs typeface="Times New Roman" panose="02020603050405020304" pitchFamily="18" charset="0"/>
              </a:rPr>
              <a:t>Integrate Decentralized Storage: Connect Pinata IPFS gateways for immutable, distributed file pinning with sub-2.5s retrieval latency.</a:t>
            </a:r>
          </a:p>
          <a:p>
            <a:r>
              <a:rPr lang="en-US" sz="2000" dirty="0">
                <a:latin typeface="Times New Roman" panose="02020603050405020304" pitchFamily="18" charset="0"/>
                <a:cs typeface="Times New Roman" panose="02020603050405020304" pitchFamily="18" charset="0"/>
              </a:rPr>
              <a:t>Deploy Role-Based Web3 Portals: Implement full-stack React 18 interfaces for Patients, Doctors, and Admins with MetaMask wallet authentication</a:t>
            </a:r>
            <a:endParaRPr lang="en-IN" sz="20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243516"/>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5</a:t>
            </a:fld>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2632EBB-2D05-8D00-7F98-43CBAFAF06ED}"/>
              </a:ext>
            </a:extLst>
          </p:cNvPr>
          <p:cNvSpPr txBox="1"/>
          <p:nvPr/>
        </p:nvSpPr>
        <p:spPr>
          <a:xfrm>
            <a:off x="460248" y="3238073"/>
            <a:ext cx="11523407"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Identified:   Sustainable Development Goals	|			| </a:t>
            </a:r>
            <a:r>
              <a:rPr lang="en-IN" sz="1600" dirty="0">
                <a:latin typeface="Times New Roman" panose="02020603050405020304" pitchFamily="18" charset="0"/>
                <a:cs typeface="Times New Roman" panose="02020603050405020304" pitchFamily="18" charset="0"/>
              </a:rPr>
              <a:t>Outcome: Open Source Application</a:t>
            </a:r>
          </a:p>
          <a:p>
            <a:endParaRPr lang="en-IN" dirty="0">
              <a:latin typeface="Times New Roman" panose="02020603050405020304" pitchFamily="18" charset="0"/>
              <a:cs typeface="Times New Roman" panose="02020603050405020304" pitchFamily="18" charset="0"/>
            </a:endParaRPr>
          </a:p>
        </p:txBody>
      </p:sp>
      <p:pic>
        <p:nvPicPr>
          <p:cNvPr id="8" name="Picture 7" descr="3 The UN 17 Sustainable Development Goals (SDGs), implemented by all... | Download Scientific Diagram">
            <a:extLst>
              <a:ext uri="{FF2B5EF4-FFF2-40B4-BE49-F238E27FC236}">
                <a16:creationId xmlns:a16="http://schemas.microsoft.com/office/drawing/2014/main" id="{36180A9B-AA72-E2D6-8362-4CDF7058D84A}"/>
              </a:ext>
            </a:extLst>
          </p:cNvPr>
          <p:cNvPicPr>
            <a:picLocks noChangeAspect="1"/>
          </p:cNvPicPr>
          <p:nvPr/>
        </p:nvPicPr>
        <p:blipFill>
          <a:blip r:embed="rId2"/>
          <a:stretch>
            <a:fillRect/>
          </a:stretch>
        </p:blipFill>
        <p:spPr>
          <a:xfrm>
            <a:off x="1990701" y="4778273"/>
            <a:ext cx="1968651" cy="1578077"/>
          </a:xfrm>
          <a:prstGeom prst="rect">
            <a:avLst/>
          </a:prstGeom>
        </p:spPr>
      </p:pic>
      <p:pic>
        <p:nvPicPr>
          <p:cNvPr id="9" name="Picture 8" descr="What are Technology Readiness Levels (TRL)? - TWI">
            <a:extLst>
              <a:ext uri="{FF2B5EF4-FFF2-40B4-BE49-F238E27FC236}">
                <a16:creationId xmlns:a16="http://schemas.microsoft.com/office/drawing/2014/main" id="{D1491C9C-07B3-89C3-5FA0-72C9F44F30AC}"/>
              </a:ext>
            </a:extLst>
          </p:cNvPr>
          <p:cNvPicPr>
            <a:picLocks noChangeAspect="1"/>
          </p:cNvPicPr>
          <p:nvPr/>
        </p:nvPicPr>
        <p:blipFill>
          <a:blip r:embed="rId3"/>
          <a:stretch>
            <a:fillRect/>
          </a:stretch>
        </p:blipFill>
        <p:spPr>
          <a:xfrm>
            <a:off x="5237545" y="4413148"/>
            <a:ext cx="2447027" cy="2232651"/>
          </a:xfrm>
          <a:prstGeom prst="rect">
            <a:avLst/>
          </a:prstGeom>
        </p:spPr>
      </p:pic>
      <p:sp>
        <p:nvSpPr>
          <p:cNvPr id="11" name="TextBox 10">
            <a:extLst>
              <a:ext uri="{FF2B5EF4-FFF2-40B4-BE49-F238E27FC236}">
                <a16:creationId xmlns:a16="http://schemas.microsoft.com/office/drawing/2014/main" id="{F90AF784-B880-7C82-D060-0C68ECFDFB07}"/>
              </a:ext>
            </a:extLst>
          </p:cNvPr>
          <p:cNvSpPr txBox="1"/>
          <p:nvPr/>
        </p:nvSpPr>
        <p:spPr>
          <a:xfrm>
            <a:off x="516396" y="3589913"/>
            <a:ext cx="4514311" cy="954107"/>
          </a:xfrm>
          <a:prstGeom prst="rect">
            <a:avLst/>
          </a:prstGeom>
          <a:noFill/>
        </p:spPr>
        <p:txBody>
          <a:bodyPr wrap="square">
            <a:spAutoFit/>
          </a:bodyPr>
          <a:lstStyle/>
          <a:p>
            <a:r>
              <a:rPr lang="en-IN" sz="1400" dirty="0"/>
              <a:t>• SDG 3 (Target 3.8): Good Health &amp; Well-being (Interoperable, tamper-proof portable medical records)</a:t>
            </a:r>
            <a:br>
              <a:rPr lang="en-IN" sz="1400" dirty="0"/>
            </a:br>
            <a:r>
              <a:rPr lang="en-IN" sz="1400" dirty="0"/>
              <a:t>• SDG 9 (Target 9.5): Industry, Innovation &amp; Infrastructure (Decentralized resilient health data architecture)</a:t>
            </a:r>
          </a:p>
        </p:txBody>
      </p:sp>
      <p:sp>
        <p:nvSpPr>
          <p:cNvPr id="13" name="TextBox 12">
            <a:extLst>
              <a:ext uri="{FF2B5EF4-FFF2-40B4-BE49-F238E27FC236}">
                <a16:creationId xmlns:a16="http://schemas.microsoft.com/office/drawing/2014/main" id="{D29503E5-7DDD-7753-4A53-DB79185A9F5E}"/>
              </a:ext>
            </a:extLst>
          </p:cNvPr>
          <p:cNvSpPr txBox="1"/>
          <p:nvPr/>
        </p:nvSpPr>
        <p:spPr>
          <a:xfrm>
            <a:off x="5499535" y="3299628"/>
            <a:ext cx="2122042" cy="523220"/>
          </a:xfrm>
          <a:prstGeom prst="rect">
            <a:avLst/>
          </a:prstGeom>
          <a:noFill/>
        </p:spPr>
        <p:txBody>
          <a:bodyPr wrap="square">
            <a:spAutoFit/>
          </a:bodyPr>
          <a:lstStyle/>
          <a:p>
            <a:r>
              <a:rPr lang="en-IN" sz="1400" dirty="0"/>
              <a:t>TRL 4 (Working prototype validated in laboratory)</a:t>
            </a:r>
          </a:p>
        </p:txBody>
      </p:sp>
    </p:spTree>
    <p:extLst>
      <p:ext uri="{BB962C8B-B14F-4D97-AF65-F5344CB8AC3E}">
        <p14:creationId xmlns:p14="http://schemas.microsoft.com/office/powerpoint/2010/main" val="2335962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9C0F-2490-21B4-8186-6F75540ACED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5DE9EA00-8D77-8DC9-1AE3-8B6FD1AF6BC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Framework/Architecture/Block Diagram</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B40592E-46EE-B4F2-7D01-D3568C2F685A}"/>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BCDC439-5940-84EE-247A-E3018795A43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A6CB23C8-7091-8CFB-BF2C-3A19CCA810FF}"/>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6</a:t>
            </a:fld>
            <a:endParaRPr lang="en-IN" dirty="0">
              <a:latin typeface="Times New Roman" panose="02020603050405020304" pitchFamily="18" charset="0"/>
              <a:cs typeface="Times New Roman" panose="02020603050405020304" pitchFamily="18" charset="0"/>
            </a:endParaRPr>
          </a:p>
        </p:txBody>
      </p:sp>
      <p:pic>
        <p:nvPicPr>
          <p:cNvPr id="8" name="Picture 7" descr="architecture_diagram.png">
            <a:extLst>
              <a:ext uri="{FF2B5EF4-FFF2-40B4-BE49-F238E27FC236}">
                <a16:creationId xmlns:a16="http://schemas.microsoft.com/office/drawing/2014/main" id="{6ADB8412-8EF3-91D7-3B74-73926E73F8BF}"/>
              </a:ext>
            </a:extLst>
          </p:cNvPr>
          <p:cNvPicPr>
            <a:picLocks noChangeAspect="1"/>
          </p:cNvPicPr>
          <p:nvPr/>
        </p:nvPicPr>
        <p:blipFill>
          <a:blip r:embed="rId2"/>
          <a:stretch>
            <a:fillRect/>
          </a:stretch>
        </p:blipFill>
        <p:spPr>
          <a:xfrm>
            <a:off x="562583" y="1631372"/>
            <a:ext cx="10515600" cy="4351338"/>
          </a:xfrm>
          <a:prstGeom prst="rect">
            <a:avLst/>
          </a:prstGeom>
        </p:spPr>
      </p:pic>
    </p:spTree>
    <p:extLst>
      <p:ext uri="{BB962C8B-B14F-4D97-AF65-F5344CB8AC3E}">
        <p14:creationId xmlns:p14="http://schemas.microsoft.com/office/powerpoint/2010/main" val="63813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5AF1-B807-AC15-9C1A-B86677AF63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324FF-B70A-2FC0-8FD0-C802E31DDBD0}"/>
              </a:ext>
            </a:extLst>
          </p:cNvPr>
          <p:cNvSpPr>
            <a:spLocks noGrp="1"/>
          </p:cNvSpPr>
          <p:nvPr>
            <p:ph idx="1"/>
          </p:nvPr>
        </p:nvSpPr>
        <p:spPr/>
        <p:txBody>
          <a:bodyPr>
            <a:normAutofit/>
          </a:bodyPr>
          <a:lstStyle/>
          <a:p>
            <a:r>
              <a:rPr lang="en-IN" dirty="0">
                <a:latin typeface="Times New Roman" panose="02020603050405020304" pitchFamily="18" charset="0"/>
                <a:cs typeface="Times New Roman" panose="02020603050405020304" pitchFamily="18" charset="0"/>
              </a:rPr>
              <a:t>FR1: Patient Health Vault – Secure registration, encrypted medical record upload, and record categorization.</a:t>
            </a:r>
          </a:p>
          <a:p>
            <a:r>
              <a:rPr lang="en-IN" dirty="0">
                <a:latin typeface="Times New Roman" panose="02020603050405020304" pitchFamily="18" charset="0"/>
                <a:cs typeface="Times New Roman" panose="02020603050405020304" pitchFamily="18" charset="0"/>
              </a:rPr>
              <a:t>FR2: Dynamic Doctor Access Delegation – Granular access granting and immediate smart contract permission revocation.</a:t>
            </a:r>
          </a:p>
          <a:p>
            <a:r>
              <a:rPr lang="en-IN" dirty="0">
                <a:latin typeface="Times New Roman" panose="02020603050405020304" pitchFamily="18" charset="0"/>
                <a:cs typeface="Times New Roman" panose="02020603050405020304" pitchFamily="18" charset="0"/>
              </a:rPr>
              <a:t>FR3: Practitioner Clinical Portal – Authorized patient EHR lookup, decrypted document viewer, and clinical notes issuance.</a:t>
            </a:r>
          </a:p>
          <a:p>
            <a:r>
              <a:rPr lang="en-IN" dirty="0">
                <a:latin typeface="Times New Roman" panose="02020603050405020304" pitchFamily="18" charset="0"/>
                <a:cs typeface="Times New Roman" panose="02020603050405020304" pitchFamily="18" charset="0"/>
              </a:rPr>
              <a:t>FR4: Hospital Governance &amp; Licensing – Verification of doctor credentials and monitoring of network telemetry.</a:t>
            </a:r>
          </a:p>
        </p:txBody>
      </p:sp>
      <p:sp>
        <p:nvSpPr>
          <p:cNvPr id="4" name="object 2">
            <a:extLst>
              <a:ext uri="{FF2B5EF4-FFF2-40B4-BE49-F238E27FC236}">
                <a16:creationId xmlns:a16="http://schemas.microsoft.com/office/drawing/2014/main" id="{0C9A0194-5820-F292-3A94-449C000E51A7}"/>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4F25267-3005-EC45-A624-B78484DFA4EC}"/>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0022FF-AD0C-E15E-5F17-B2827B5546B1}"/>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BD8D6198-8B2C-26FB-53D2-A5B87C95A4FB}"/>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299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F2ED-50F9-3DFA-95BB-1A1059C5D8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F2560-A5FE-A724-8F39-E7E901E8FADC}"/>
              </a:ext>
            </a:extLst>
          </p:cNvPr>
          <p:cNvSpPr>
            <a:spLocks noGrp="1"/>
          </p:cNvSpPr>
          <p:nvPr>
            <p:ph idx="1"/>
          </p:nvPr>
        </p:nvSpPr>
        <p:spPr>
          <a:xfrm>
            <a:off x="838200" y="1489753"/>
            <a:ext cx="10515600" cy="4687210"/>
          </a:xfrm>
        </p:spPr>
        <p:txBody>
          <a:bodyPr>
            <a:normAutofit/>
          </a:bodyPr>
          <a:lstStyle/>
          <a:p>
            <a:pPr lvl="1"/>
            <a:r>
              <a:rPr lang="en-US" sz="2000" b="1" dirty="0">
                <a:latin typeface="Times New Roman" panose="02020603050405020304" pitchFamily="18" charset="0"/>
                <a:cs typeface="Times New Roman" panose="02020603050405020304" pitchFamily="18" charset="0"/>
              </a:rPr>
              <a:t>Module 1: Smart Contract Access Control &amp; Registry  </a:t>
            </a:r>
          </a:p>
          <a:p>
            <a:pPr marL="914400" lvl="2" indent="0">
              <a:buNone/>
            </a:pPr>
            <a:r>
              <a:rPr lang="en-US" sz="1800" dirty="0" err="1">
                <a:latin typeface="Times New Roman" panose="02020603050405020304" pitchFamily="18" charset="0"/>
                <a:cs typeface="Times New Roman" panose="02020603050405020304" pitchFamily="18" charset="0"/>
              </a:rPr>
              <a:t>MedicalRecord.sol</a:t>
            </a:r>
            <a:r>
              <a:rPr lang="en-US" sz="1800" dirty="0">
                <a:latin typeface="Times New Roman" panose="02020603050405020304" pitchFamily="18" charset="0"/>
                <a:cs typeface="Times New Roman" panose="02020603050405020304" pitchFamily="18" charset="0"/>
              </a:rPr>
              <a:t> deployed on Hardhat local &amp; Polygon Amoy </a:t>
            </a:r>
            <a:r>
              <a:rPr lang="en-US" sz="1800" dirty="0" err="1">
                <a:latin typeface="Times New Roman" panose="02020603050405020304" pitchFamily="18" charset="0"/>
                <a:cs typeface="Times New Roman" panose="02020603050405020304" pitchFamily="18" charset="0"/>
              </a:rPr>
              <a:t>testnet</a:t>
            </a:r>
            <a:r>
              <a:rPr lang="en-US" sz="1800" dirty="0">
                <a:latin typeface="Times New Roman" panose="02020603050405020304" pitchFamily="18" charset="0"/>
                <a:cs typeface="Times New Roman" panose="02020603050405020304" pitchFamily="18" charset="0"/>
              </a:rPr>
              <a:t>. Implements access matrix, doctor verification, and audit logs.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11/11 automated unit tests passing covering access rejections and permission grants. </a:t>
            </a:r>
          </a:p>
          <a:p>
            <a:pPr lvl="1"/>
            <a:r>
              <a:rPr lang="en-US" sz="2000" b="1" dirty="0">
                <a:latin typeface="Times New Roman" panose="02020603050405020304" pitchFamily="18" charset="0"/>
                <a:cs typeface="Times New Roman" panose="02020603050405020304" pitchFamily="18" charset="0"/>
              </a:rPr>
              <a:t>Module 2: Cryptographic Gateway &amp; IPFS Pinning Engine </a:t>
            </a:r>
          </a:p>
          <a:p>
            <a:pPr marL="914400" lvl="2" indent="0">
              <a:buNone/>
            </a:pPr>
            <a:r>
              <a:rPr lang="en-US" sz="1800" dirty="0">
                <a:latin typeface="Times New Roman" panose="02020603050405020304" pitchFamily="18" charset="0"/>
                <a:cs typeface="Times New Roman" panose="02020603050405020304" pitchFamily="18" charset="0"/>
              </a:rPr>
              <a:t>Symmetric AES-256-GCM encryption engine (encrypt.js) and Pinata IPFS pinning gateway (pinata.js).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Generates tamper-proof CIDs and cryptographic authentication tags with sub-second latency. </a:t>
            </a:r>
          </a:p>
          <a:p>
            <a:pPr lvl="1"/>
            <a:r>
              <a:rPr lang="en-US" sz="2000" b="1" dirty="0">
                <a:latin typeface="Times New Roman" panose="02020603050405020304" pitchFamily="18" charset="0"/>
                <a:cs typeface="Times New Roman" panose="02020603050405020304" pitchFamily="18" charset="0"/>
              </a:rPr>
              <a:t>Module 3: Role-Based User Portals &amp; UI/UX</a:t>
            </a:r>
          </a:p>
          <a:p>
            <a:pPr marL="914400" lvl="2" indent="0">
              <a:buNone/>
            </a:pPr>
            <a:r>
              <a:rPr lang="en-US" sz="1800" dirty="0">
                <a:latin typeface="Times New Roman" panose="02020603050405020304" pitchFamily="18" charset="0"/>
                <a:cs typeface="Times New Roman" panose="02020603050405020304" pitchFamily="18" charset="0"/>
              </a:rPr>
              <a:t>React 18, React Router v6, Tailwind CSS dashboards for Patient (Vault, Sharing), Doctor (Lookup), and Admin.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Integrated interactive appointment scheduler, medicine tracking, and medical history views. </a:t>
            </a:r>
          </a:p>
          <a:p>
            <a:pPr lvl="1"/>
            <a:r>
              <a:rPr lang="en-US" sz="2000" b="1" dirty="0">
                <a:latin typeface="Times New Roman" panose="02020603050405020304" pitchFamily="18" charset="0"/>
                <a:cs typeface="Times New Roman" panose="02020603050405020304" pitchFamily="18" charset="0"/>
              </a:rPr>
              <a:t>Module 4: Web3 Wallet Integration &amp; Telemetry </a:t>
            </a:r>
          </a:p>
          <a:p>
            <a:pPr marL="914400" lvl="2" indent="0">
              <a:buNone/>
            </a:pPr>
            <a:r>
              <a:rPr lang="en-US" sz="1800" dirty="0">
                <a:latin typeface="Times New Roman" panose="02020603050405020304" pitchFamily="18" charset="0"/>
                <a:cs typeface="Times New Roman" panose="02020603050405020304" pitchFamily="18" charset="0"/>
              </a:rPr>
              <a:t>MetaMask provider integration via Ethers.js v6 with simulated fallback modes for evaluation.</a:t>
            </a:r>
            <a:endParaRPr lang="en-IN" sz="1800"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B27DA514-48FC-4BF4-8205-DE21D456C5FF}"/>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Modules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74A04E0-6631-130F-A154-C85D978EA39B}"/>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9615995-EDEB-C984-B852-1229C23B1A05}"/>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067F5109-389C-3E37-E553-A559233EFD9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8</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870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56E8-0003-02C5-D37D-A5CC4CE44D5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Experiments and Results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9</a:t>
            </a:fld>
            <a:endParaRPr lang="en-IN" dirty="0">
              <a:latin typeface="Times New Roman" panose="02020603050405020304" pitchFamily="18" charset="0"/>
              <a:cs typeface="Times New Roman" panose="02020603050405020304" pitchFamily="18" charset="0"/>
            </a:endParaRPr>
          </a:p>
        </p:txBody>
      </p:sp>
      <p:pic>
        <p:nvPicPr>
          <p:cNvPr id="8" name="Content Placeholder 7" descr="gas_benchmark_chart.png">
            <a:extLst>
              <a:ext uri="{FF2B5EF4-FFF2-40B4-BE49-F238E27FC236}">
                <a16:creationId xmlns:a16="http://schemas.microsoft.com/office/drawing/2014/main" id="{ED106311-01BA-FE58-C540-068A992506F9}"/>
              </a:ext>
            </a:extLst>
          </p:cNvPr>
          <p:cNvPicPr>
            <a:picLocks noGrp="1" noChangeAspect="1"/>
          </p:cNvPicPr>
          <p:nvPr>
            <p:ph idx="1"/>
          </p:nvPr>
        </p:nvPicPr>
        <p:blipFill>
          <a:blip r:embed="rId2"/>
          <a:stretch>
            <a:fillRect/>
          </a:stretch>
        </p:blipFill>
        <p:spPr>
          <a:xfrm>
            <a:off x="838200" y="1958695"/>
            <a:ext cx="10515600" cy="4085197"/>
          </a:xfrm>
          <a:prstGeom prst="rect">
            <a:avLst/>
          </a:prstGeom>
        </p:spPr>
      </p:pic>
    </p:spTree>
    <p:extLst>
      <p:ext uri="{BB962C8B-B14F-4D97-AF65-F5344CB8AC3E}">
        <p14:creationId xmlns:p14="http://schemas.microsoft.com/office/powerpoint/2010/main" val="3666188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9A39-F362-DB35-B5DF-7E322AB9CA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F33DD-84F0-A7F9-A1DC-A4DEA1A7D846}"/>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Successfully engineered and demonstrated a working hybrid decentralized EHR management platform.</a:t>
            </a:r>
          </a:p>
          <a:p>
            <a:r>
              <a:rPr lang="en-US" dirty="0">
                <a:latin typeface="Times New Roman" panose="02020603050405020304" pitchFamily="18" charset="0"/>
                <a:cs typeface="Times New Roman" panose="02020603050405020304" pitchFamily="18" charset="0"/>
              </a:rPr>
              <a:t>Validated client-side AES-256-GCM encryption with off-chain IPFS pinning and on-chain Solidity access governance.</a:t>
            </a:r>
          </a:p>
          <a:p>
            <a:r>
              <a:rPr lang="en-US" dirty="0">
                <a:latin typeface="Times New Roman" panose="02020603050405020304" pitchFamily="18" charset="0"/>
                <a:cs typeface="Times New Roman" panose="02020603050405020304" pitchFamily="18" charset="0"/>
              </a:rPr>
              <a:t>Proved zero on-chain Protected Health Information exposure and verified 100% automated test coverage (11/11 Hardhat tests).</a:t>
            </a:r>
          </a:p>
          <a:p>
            <a:r>
              <a:rPr lang="en-US" dirty="0">
                <a:latin typeface="Times New Roman" panose="02020603050405020304" pitchFamily="18" charset="0"/>
                <a:cs typeface="Times New Roman" panose="02020603050405020304" pitchFamily="18" charset="0"/>
              </a:rPr>
              <a:t>Achieved sub-second cryptographic encryption and cost-effective smart contract execution.</a:t>
            </a:r>
          </a:p>
        </p:txBody>
      </p:sp>
      <p:sp>
        <p:nvSpPr>
          <p:cNvPr id="4" name="object 2">
            <a:extLst>
              <a:ext uri="{FF2B5EF4-FFF2-40B4-BE49-F238E27FC236}">
                <a16:creationId xmlns:a16="http://schemas.microsoft.com/office/drawing/2014/main" id="{3754A46F-4AC3-5AF1-0B78-C0B5112BD14C}"/>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Conclusion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51BAA61-633E-E24B-7DEE-4B2A2B1FA9A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02-09-2026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B93C553-2D0C-5A0A-39DC-21C43BD88BF0}"/>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6BF7A7E9-45BE-62F4-D3A6-F19DC6ABEDE6}"/>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10</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498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91826" y="1490007"/>
            <a:ext cx="10515600"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ts val="400"/>
              </a:spcAft>
              <a:defRPr sz="1100" b="0">
                <a:solidFill>
                  <a:srgbClr val="1E293B"/>
                </a:solidFill>
                <a:latin typeface="Calibri"/>
              </a:defRPr>
            </a:pPr>
            <a:r>
              <a:rPr lang="en-IN" sz="1600" dirty="0"/>
              <a:t>[1] A. Azaria, A. </a:t>
            </a:r>
            <a:r>
              <a:rPr lang="en-IN" sz="1600" dirty="0" err="1"/>
              <a:t>Ekblaw</a:t>
            </a:r>
            <a:r>
              <a:rPr lang="en-IN" sz="1600" dirty="0"/>
              <a:t>, T. Vieira, and A. Lippman, "</a:t>
            </a:r>
            <a:r>
              <a:rPr lang="en-IN" sz="1600" dirty="0" err="1"/>
              <a:t>MedRec</a:t>
            </a:r>
            <a:r>
              <a:rPr lang="en-IN" sz="1600" dirty="0"/>
              <a:t>: Using blockchain for medical data access and permission management," in Proc. IEEE 2nd Int. Conf. Open &amp; Big Data (OBD), 2016, pp. 25–30.</a:t>
            </a:r>
          </a:p>
          <a:p>
            <a:pPr>
              <a:spcAft>
                <a:spcPts val="400"/>
              </a:spcAft>
              <a:defRPr sz="1100" b="0">
                <a:solidFill>
                  <a:srgbClr val="1E293B"/>
                </a:solidFill>
                <a:latin typeface="Calibri"/>
              </a:defRPr>
            </a:pPr>
            <a:r>
              <a:rPr lang="en-IN" sz="1600" dirty="0"/>
              <a:t>[2] Q. Xia, E. B. Sifah, K. O. Asamoah, J. Gao, X. Du, and M. </a:t>
            </a:r>
            <a:r>
              <a:rPr lang="en-IN" sz="1600" dirty="0" err="1"/>
              <a:t>Guizani</a:t>
            </a:r>
            <a:r>
              <a:rPr lang="en-IN" sz="1600" dirty="0"/>
              <a:t>, "</a:t>
            </a:r>
            <a:r>
              <a:rPr lang="en-IN" sz="1600" dirty="0" err="1"/>
              <a:t>MeDShare</a:t>
            </a:r>
            <a:r>
              <a:rPr lang="en-IN" sz="1600" dirty="0"/>
              <a:t>: Trust-less medical data sharing among cloud service providers via blockchain," IEEE Access, vol. 5, pp. 14757–14767, 2017.</a:t>
            </a:r>
          </a:p>
          <a:p>
            <a:pPr>
              <a:spcAft>
                <a:spcPts val="400"/>
              </a:spcAft>
              <a:defRPr sz="1100" b="0">
                <a:solidFill>
                  <a:srgbClr val="1E293B"/>
                </a:solidFill>
                <a:latin typeface="Calibri"/>
              </a:defRPr>
            </a:pPr>
            <a:r>
              <a:rPr lang="en-IN" sz="1600" dirty="0"/>
              <a:t>[3] A. </a:t>
            </a:r>
            <a:r>
              <a:rPr lang="en-IN" sz="1600" dirty="0" err="1"/>
              <a:t>Dubovitskaya</a:t>
            </a:r>
            <a:r>
              <a:rPr lang="en-IN" sz="1600" dirty="0"/>
              <a:t>, Z. Xu, S. Ryu, M. Schumacher, and F. Wang, "Secure and trustable electronic medical records sharing using blockchain," AMIA Annu. Symp. Proc., vol. 2017, pp. 650–659, 2017.</a:t>
            </a:r>
          </a:p>
          <a:p>
            <a:pPr>
              <a:spcAft>
                <a:spcPts val="400"/>
              </a:spcAft>
              <a:defRPr sz="1100" b="0">
                <a:solidFill>
                  <a:srgbClr val="1E293B"/>
                </a:solidFill>
                <a:latin typeface="Calibri"/>
              </a:defRPr>
            </a:pPr>
            <a:r>
              <a:rPr lang="en-IN" sz="1600" dirty="0"/>
              <a:t>[4] U. Shahnaz, F. Javaid, and H. J. Al-Aboody, "Using blockchain for electronic health records," IEEE Access, vol. 7, pp. 147782–147795, 2019.</a:t>
            </a:r>
          </a:p>
          <a:p>
            <a:pPr>
              <a:spcAft>
                <a:spcPts val="400"/>
              </a:spcAft>
              <a:defRPr sz="1100" b="0">
                <a:solidFill>
                  <a:srgbClr val="1E293B"/>
                </a:solidFill>
                <a:latin typeface="Calibri"/>
              </a:defRPr>
            </a:pPr>
            <a:r>
              <a:rPr lang="en-IN" sz="1600" dirty="0"/>
              <a:t>[5] X. Yue et al., "Healthcare Data Gateways: Found Healthcare Intelligence on Blockchain with Novel Privacy Risk Control," Journal of Medical Systems, vol. 40, no. 10, art. 218, 2016.</a:t>
            </a:r>
          </a:p>
          <a:p>
            <a:pPr>
              <a:spcAft>
                <a:spcPts val="400"/>
              </a:spcAft>
              <a:defRPr sz="1100" b="0">
                <a:solidFill>
                  <a:srgbClr val="1E293B"/>
                </a:solidFill>
                <a:latin typeface="Calibri"/>
              </a:defRPr>
            </a:pPr>
            <a:r>
              <a:rPr lang="en-IN" sz="1600" dirty="0"/>
              <a:t>[6] J. Benet, "IPFS - Content Addressed, Versioned, P2P File System," </a:t>
            </a:r>
            <a:r>
              <a:rPr lang="en-IN" sz="1600" dirty="0" err="1"/>
              <a:t>arXiv</a:t>
            </a:r>
            <a:r>
              <a:rPr lang="en-IN" sz="1600" dirty="0"/>
              <a:t> preprint arXiv:1407.3561, 2014.</a:t>
            </a:r>
          </a:p>
          <a:p>
            <a:pPr>
              <a:defRPr sz="1100" b="0">
                <a:solidFill>
                  <a:srgbClr val="1E293B"/>
                </a:solidFill>
                <a:latin typeface="Calibri"/>
              </a:defRPr>
            </a:pPr>
            <a:r>
              <a:rPr lang="en-IN" sz="1600" dirty="0"/>
              <a:t>[7] V. Buterin, "Ethereum white paper: A next-generation smart contract and decentralized application platform," 2014.</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02-09-2026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11</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TotalTime>
  <Words>1064</Words>
  <Application>Microsoft Office PowerPoint</Application>
  <PresentationFormat>Widescreen</PresentationFormat>
  <Paragraphs>92</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B.Tech BCSE497J – Project 1  CareChain: Decentralized Electronic Health Record Management System</vt:lpstr>
      <vt:lpstr>Aim</vt:lpstr>
      <vt:lpstr>Abstract</vt:lpstr>
      <vt:lpstr>Research Gap</vt:lpstr>
      <vt:lpstr>Objectives</vt:lpstr>
      <vt:lpstr>Framework/Architecture/Block Diagram</vt:lpstr>
      <vt:lpstr>Functional Requirements</vt:lpstr>
      <vt:lpstr>Modules</vt:lpstr>
      <vt:lpstr>Experiments and Results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Ashish Anil Sikaria</cp:lastModifiedBy>
  <cp:revision>18</cp:revision>
  <dcterms:created xsi:type="dcterms:W3CDTF">2026-07-14T06:00:41Z</dcterms:created>
  <dcterms:modified xsi:type="dcterms:W3CDTF">2026-09-02T06:45:36Z</dcterms:modified>
</cp:coreProperties>
</file>