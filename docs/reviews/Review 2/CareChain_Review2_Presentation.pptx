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sldIdLst>
    <p:sldId id="256" r:id="rId2"/>
    <p:sldId id="263" r:id="rId3"/>
    <p:sldId id="257" r:id="rId4"/>
    <p:sldId id="258" r:id="rId5"/>
    <p:sldId id="259" r:id="rId6"/>
    <p:sldId id="260" r:id="rId7"/>
    <p:sldId id="261" r:id="rId8"/>
    <p:sldId id="264" r:id="rId9"/>
    <p:sldId id="265" r:id="rId10"/>
    <p:sldId id="266" r:id="rId11"/>
    <p:sldId id="267" r:id="rId12"/>
    <p:sldId id="268"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2" d="100"/>
          <a:sy n="102" d="100"/>
        </p:scale>
        <p:origin x="23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58E2E1-8886-43B2-B986-F2B06DAA2FAC}" type="datetimeFigureOut">
              <a:rPr lang="en-IN" smtClean="0"/>
              <a:t>01-09-2026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9FDF3-42B5-4A41-B75E-186C389084C2}" type="slidenum">
              <a:rPr lang="en-IN" smtClean="0"/>
              <a:t>‹#›</a:t>
            </a:fld>
            <a:endParaRPr lang="en-IN"/>
          </a:p>
        </p:txBody>
      </p:sp>
    </p:spTree>
    <p:extLst>
      <p:ext uri="{BB962C8B-B14F-4D97-AF65-F5344CB8AC3E}">
        <p14:creationId xmlns:p14="http://schemas.microsoft.com/office/powerpoint/2010/main" val="1029858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592BF-19BE-9BF0-E2FC-07A36D054E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3AB4F9-CBB3-B18D-E917-C3B0641867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50F18A0-E201-1900-A139-E830DD3EA1D1}"/>
              </a:ext>
            </a:extLst>
          </p:cNvPr>
          <p:cNvSpPr>
            <a:spLocks noGrp="1"/>
          </p:cNvSpPr>
          <p:nvPr>
            <p:ph type="dt" sz="half" idx="10"/>
          </p:nvPr>
        </p:nvSpPr>
        <p:spPr/>
        <p:txBody>
          <a:bodyPr/>
          <a:lstStyle/>
          <a:p>
            <a:fld id="{8F3E78AE-7F97-4550-9DD8-BF69171FDC30}" type="datetime1">
              <a:rPr lang="en-IN" smtClean="0"/>
              <a:t>01-09-2026</a:t>
            </a:fld>
            <a:endParaRPr lang="en-IN"/>
          </a:p>
        </p:txBody>
      </p:sp>
      <p:sp>
        <p:nvSpPr>
          <p:cNvPr id="5" name="Footer Placeholder 4">
            <a:extLst>
              <a:ext uri="{FF2B5EF4-FFF2-40B4-BE49-F238E27FC236}">
                <a16:creationId xmlns:a16="http://schemas.microsoft.com/office/drawing/2014/main" id="{ED0906B9-B1F6-B52E-2EE0-7595B1EBF0FF}"/>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7A13AE1-F96E-D540-8DE1-8D903DB30CE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76519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2F7EA-3EC9-99AF-13A9-22A3F8B2D21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C71419B-73DB-15DA-D2EE-0FC01B435F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080259-8D20-E29B-4DC5-312C3DB01BB3}"/>
              </a:ext>
            </a:extLst>
          </p:cNvPr>
          <p:cNvSpPr>
            <a:spLocks noGrp="1"/>
          </p:cNvSpPr>
          <p:nvPr>
            <p:ph type="dt" sz="half" idx="10"/>
          </p:nvPr>
        </p:nvSpPr>
        <p:spPr/>
        <p:txBody>
          <a:bodyPr/>
          <a:lstStyle/>
          <a:p>
            <a:fld id="{FEA886FF-1BA7-4533-94E6-869CE1E2970B}" type="datetime1">
              <a:rPr lang="en-IN" smtClean="0"/>
              <a:t>01-09-2026</a:t>
            </a:fld>
            <a:endParaRPr lang="en-IN"/>
          </a:p>
        </p:txBody>
      </p:sp>
      <p:sp>
        <p:nvSpPr>
          <p:cNvPr id="5" name="Footer Placeholder 4">
            <a:extLst>
              <a:ext uri="{FF2B5EF4-FFF2-40B4-BE49-F238E27FC236}">
                <a16:creationId xmlns:a16="http://schemas.microsoft.com/office/drawing/2014/main" id="{E101830E-3502-194A-88FA-DC3E0F1B309A}"/>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ECF6703C-229C-43C6-0484-38EC263AD4A9}"/>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693990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E344-6494-09A6-A5E4-811EEE0CD2A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351A0E2-2B9B-B96E-A3FD-0B26BDDBEB4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67CE67-8E8A-4D0D-42DF-DDC842B1B17A}"/>
              </a:ext>
            </a:extLst>
          </p:cNvPr>
          <p:cNvSpPr>
            <a:spLocks noGrp="1"/>
          </p:cNvSpPr>
          <p:nvPr>
            <p:ph type="dt" sz="half" idx="10"/>
          </p:nvPr>
        </p:nvSpPr>
        <p:spPr/>
        <p:txBody>
          <a:bodyPr/>
          <a:lstStyle/>
          <a:p>
            <a:fld id="{93E22BD8-A2C4-424B-809A-C64DDCC305D9}" type="datetime1">
              <a:rPr lang="en-IN" smtClean="0"/>
              <a:t>01-09-2026</a:t>
            </a:fld>
            <a:endParaRPr lang="en-IN"/>
          </a:p>
        </p:txBody>
      </p:sp>
      <p:sp>
        <p:nvSpPr>
          <p:cNvPr id="5" name="Footer Placeholder 4">
            <a:extLst>
              <a:ext uri="{FF2B5EF4-FFF2-40B4-BE49-F238E27FC236}">
                <a16:creationId xmlns:a16="http://schemas.microsoft.com/office/drawing/2014/main" id="{73A78C3E-C139-1FD1-979B-D71679959D2B}"/>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9932F297-889B-B694-6DD5-92F8A6AAFF7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95814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C89C-FEA2-11F6-7988-ADD14A7B22F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0E5DE7B-A406-1142-36EA-1C14987402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355A2B-361E-86CB-ABBE-C510D2B221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0DA5E84-A1E0-A1C4-F7E6-DA9E7B124C77}"/>
              </a:ext>
            </a:extLst>
          </p:cNvPr>
          <p:cNvSpPr>
            <a:spLocks noGrp="1"/>
          </p:cNvSpPr>
          <p:nvPr>
            <p:ph type="dt" sz="half" idx="10"/>
          </p:nvPr>
        </p:nvSpPr>
        <p:spPr/>
        <p:txBody>
          <a:bodyPr/>
          <a:lstStyle/>
          <a:p>
            <a:fld id="{B620F4BC-B3A4-46AF-9AEC-8478EF1369D5}" type="datetime1">
              <a:rPr lang="en-IN" smtClean="0"/>
              <a:t>01-09-2026</a:t>
            </a:fld>
            <a:endParaRPr lang="en-IN"/>
          </a:p>
        </p:txBody>
      </p:sp>
      <p:sp>
        <p:nvSpPr>
          <p:cNvPr id="6" name="Footer Placeholder 5">
            <a:extLst>
              <a:ext uri="{FF2B5EF4-FFF2-40B4-BE49-F238E27FC236}">
                <a16:creationId xmlns:a16="http://schemas.microsoft.com/office/drawing/2014/main" id="{D5DDA460-54C8-F2AC-C053-53FF3FAFCCD5}"/>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EE6F132A-BD40-58D2-CEEC-A1BA2B9E2EF2}"/>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438223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823BE-2514-8722-ED45-41E13E46B67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4BFEE3B-6ABA-1D24-97FE-717EBBC999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653C42-4C6D-988F-42A0-8639A508A61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2B662B4-F942-A78F-394F-74F6037179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445FBE-A81E-92E1-36E3-99D1586F83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D20C02-77C2-CB2A-62F8-60B8C62629ED}"/>
              </a:ext>
            </a:extLst>
          </p:cNvPr>
          <p:cNvSpPr>
            <a:spLocks noGrp="1"/>
          </p:cNvSpPr>
          <p:nvPr>
            <p:ph type="dt" sz="half" idx="10"/>
          </p:nvPr>
        </p:nvSpPr>
        <p:spPr/>
        <p:txBody>
          <a:bodyPr/>
          <a:lstStyle/>
          <a:p>
            <a:fld id="{4C9A2993-B405-4F4D-B968-A01C27211659}" type="datetime1">
              <a:rPr lang="en-IN" smtClean="0"/>
              <a:t>01-09-2026</a:t>
            </a:fld>
            <a:endParaRPr lang="en-IN"/>
          </a:p>
        </p:txBody>
      </p:sp>
      <p:sp>
        <p:nvSpPr>
          <p:cNvPr id="8" name="Footer Placeholder 7">
            <a:extLst>
              <a:ext uri="{FF2B5EF4-FFF2-40B4-BE49-F238E27FC236}">
                <a16:creationId xmlns:a16="http://schemas.microsoft.com/office/drawing/2014/main" id="{AD033241-EB08-777E-F678-5D641F6495A5}"/>
              </a:ext>
            </a:extLst>
          </p:cNvPr>
          <p:cNvSpPr>
            <a:spLocks noGrp="1"/>
          </p:cNvSpPr>
          <p:nvPr>
            <p:ph type="ftr" sz="quarter" idx="11"/>
          </p:nvPr>
        </p:nvSpPr>
        <p:spPr/>
        <p:txBody>
          <a:bodyPr/>
          <a:lstStyle/>
          <a:p>
            <a:r>
              <a:rPr lang="en-IN"/>
              <a:t>SCOPE</a:t>
            </a:r>
          </a:p>
        </p:txBody>
      </p:sp>
      <p:sp>
        <p:nvSpPr>
          <p:cNvPr id="9" name="Slide Number Placeholder 8">
            <a:extLst>
              <a:ext uri="{FF2B5EF4-FFF2-40B4-BE49-F238E27FC236}">
                <a16:creationId xmlns:a16="http://schemas.microsoft.com/office/drawing/2014/main" id="{40D711ED-181F-C690-A3B3-1D82670FC5D5}"/>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9272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468B4-E355-69B3-7598-80ADF2F9CC1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2F1AB3B-AFC6-3627-62E6-22313061FA80}"/>
              </a:ext>
            </a:extLst>
          </p:cNvPr>
          <p:cNvSpPr>
            <a:spLocks noGrp="1"/>
          </p:cNvSpPr>
          <p:nvPr>
            <p:ph type="dt" sz="half" idx="10"/>
          </p:nvPr>
        </p:nvSpPr>
        <p:spPr/>
        <p:txBody>
          <a:bodyPr/>
          <a:lstStyle/>
          <a:p>
            <a:fld id="{79378C8C-5FBB-4DD7-A06D-BE263480794B}" type="datetime1">
              <a:rPr lang="en-IN" smtClean="0"/>
              <a:t>01-09-2026</a:t>
            </a:fld>
            <a:endParaRPr lang="en-IN"/>
          </a:p>
        </p:txBody>
      </p:sp>
      <p:sp>
        <p:nvSpPr>
          <p:cNvPr id="4" name="Footer Placeholder 3">
            <a:extLst>
              <a:ext uri="{FF2B5EF4-FFF2-40B4-BE49-F238E27FC236}">
                <a16:creationId xmlns:a16="http://schemas.microsoft.com/office/drawing/2014/main" id="{2B2C6591-48E4-480E-7965-DE9F830154A3}"/>
              </a:ext>
            </a:extLst>
          </p:cNvPr>
          <p:cNvSpPr>
            <a:spLocks noGrp="1"/>
          </p:cNvSpPr>
          <p:nvPr>
            <p:ph type="ftr" sz="quarter" idx="11"/>
          </p:nvPr>
        </p:nvSpPr>
        <p:spPr/>
        <p:txBody>
          <a:bodyPr/>
          <a:lstStyle/>
          <a:p>
            <a:r>
              <a:rPr lang="en-IN"/>
              <a:t>SCOPE</a:t>
            </a:r>
          </a:p>
        </p:txBody>
      </p:sp>
      <p:sp>
        <p:nvSpPr>
          <p:cNvPr id="5" name="Slide Number Placeholder 4">
            <a:extLst>
              <a:ext uri="{FF2B5EF4-FFF2-40B4-BE49-F238E27FC236}">
                <a16:creationId xmlns:a16="http://schemas.microsoft.com/office/drawing/2014/main" id="{F10C9D68-A16A-B2D3-C8A6-B5221AF744BC}"/>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1075061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3F289A-3AD7-C11D-1594-90A35E592B5C}"/>
              </a:ext>
            </a:extLst>
          </p:cNvPr>
          <p:cNvSpPr>
            <a:spLocks noGrp="1"/>
          </p:cNvSpPr>
          <p:nvPr>
            <p:ph type="dt" sz="half" idx="10"/>
          </p:nvPr>
        </p:nvSpPr>
        <p:spPr/>
        <p:txBody>
          <a:bodyPr/>
          <a:lstStyle/>
          <a:p>
            <a:fld id="{31FD2985-06EC-459B-80C8-F6F4362A1C03}" type="datetime1">
              <a:rPr lang="en-IN" smtClean="0"/>
              <a:t>01-09-2026</a:t>
            </a:fld>
            <a:endParaRPr lang="en-IN"/>
          </a:p>
        </p:txBody>
      </p:sp>
      <p:sp>
        <p:nvSpPr>
          <p:cNvPr id="3" name="Footer Placeholder 2">
            <a:extLst>
              <a:ext uri="{FF2B5EF4-FFF2-40B4-BE49-F238E27FC236}">
                <a16:creationId xmlns:a16="http://schemas.microsoft.com/office/drawing/2014/main" id="{8C252269-BBE3-199F-299B-38D4E9CC1899}"/>
              </a:ext>
            </a:extLst>
          </p:cNvPr>
          <p:cNvSpPr>
            <a:spLocks noGrp="1"/>
          </p:cNvSpPr>
          <p:nvPr>
            <p:ph type="ftr" sz="quarter" idx="11"/>
          </p:nvPr>
        </p:nvSpPr>
        <p:spPr/>
        <p:txBody>
          <a:bodyPr/>
          <a:lstStyle/>
          <a:p>
            <a:r>
              <a:rPr lang="en-IN"/>
              <a:t>SCOPE</a:t>
            </a:r>
          </a:p>
        </p:txBody>
      </p:sp>
      <p:sp>
        <p:nvSpPr>
          <p:cNvPr id="4" name="Slide Number Placeholder 3">
            <a:extLst>
              <a:ext uri="{FF2B5EF4-FFF2-40B4-BE49-F238E27FC236}">
                <a16:creationId xmlns:a16="http://schemas.microsoft.com/office/drawing/2014/main" id="{F7407FDC-B2A9-1304-047F-5808A0B6B22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047265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4847-FC20-D9BF-0BDE-26EC7EF74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8D9C584-AC19-D7B4-9DFE-7C1BC2E1BC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F4A3262-CE8D-2419-DCCC-C536E9FDA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4758D6-7AF2-29C5-E0EE-3B7BE155EC20}"/>
              </a:ext>
            </a:extLst>
          </p:cNvPr>
          <p:cNvSpPr>
            <a:spLocks noGrp="1"/>
          </p:cNvSpPr>
          <p:nvPr>
            <p:ph type="dt" sz="half" idx="10"/>
          </p:nvPr>
        </p:nvSpPr>
        <p:spPr/>
        <p:txBody>
          <a:bodyPr/>
          <a:lstStyle/>
          <a:p>
            <a:fld id="{71D7E9DA-13C6-48A4-9305-B592482DE8CE}" type="datetime1">
              <a:rPr lang="en-IN" smtClean="0"/>
              <a:t>01-09-2026</a:t>
            </a:fld>
            <a:endParaRPr lang="en-IN"/>
          </a:p>
        </p:txBody>
      </p:sp>
      <p:sp>
        <p:nvSpPr>
          <p:cNvPr id="6" name="Footer Placeholder 5">
            <a:extLst>
              <a:ext uri="{FF2B5EF4-FFF2-40B4-BE49-F238E27FC236}">
                <a16:creationId xmlns:a16="http://schemas.microsoft.com/office/drawing/2014/main" id="{45AAC7E7-68C4-7616-2DE1-0333E2C446CC}"/>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5E9EF51B-1685-66FF-0783-23584C251751}"/>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7563877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39D0E-3A71-7252-C837-B8281F0DED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FE3D557-6893-299F-57A8-A7B173F101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4CC8BA2-BB08-F4E3-5660-C7370BA56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57E1CE-C7CA-966D-8661-1E99A7DA2174}"/>
              </a:ext>
            </a:extLst>
          </p:cNvPr>
          <p:cNvSpPr>
            <a:spLocks noGrp="1"/>
          </p:cNvSpPr>
          <p:nvPr>
            <p:ph type="dt" sz="half" idx="10"/>
          </p:nvPr>
        </p:nvSpPr>
        <p:spPr/>
        <p:txBody>
          <a:bodyPr/>
          <a:lstStyle/>
          <a:p>
            <a:fld id="{F45E7C4B-C575-4DCF-9B63-045662930500}" type="datetime1">
              <a:rPr lang="en-IN" smtClean="0"/>
              <a:t>01-09-2026</a:t>
            </a:fld>
            <a:endParaRPr lang="en-IN"/>
          </a:p>
        </p:txBody>
      </p:sp>
      <p:sp>
        <p:nvSpPr>
          <p:cNvPr id="6" name="Footer Placeholder 5">
            <a:extLst>
              <a:ext uri="{FF2B5EF4-FFF2-40B4-BE49-F238E27FC236}">
                <a16:creationId xmlns:a16="http://schemas.microsoft.com/office/drawing/2014/main" id="{66055516-3E64-07E5-10C5-DE056657E44B}"/>
              </a:ext>
            </a:extLst>
          </p:cNvPr>
          <p:cNvSpPr>
            <a:spLocks noGrp="1"/>
          </p:cNvSpPr>
          <p:nvPr>
            <p:ph type="ftr" sz="quarter" idx="11"/>
          </p:nvPr>
        </p:nvSpPr>
        <p:spPr/>
        <p:txBody>
          <a:bodyPr/>
          <a:lstStyle/>
          <a:p>
            <a:r>
              <a:rPr lang="en-IN"/>
              <a:t>SCOPE</a:t>
            </a:r>
          </a:p>
        </p:txBody>
      </p:sp>
      <p:sp>
        <p:nvSpPr>
          <p:cNvPr id="7" name="Slide Number Placeholder 6">
            <a:extLst>
              <a:ext uri="{FF2B5EF4-FFF2-40B4-BE49-F238E27FC236}">
                <a16:creationId xmlns:a16="http://schemas.microsoft.com/office/drawing/2014/main" id="{AFBA5AD5-9867-E76D-C035-2856CCFBC128}"/>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2940017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D7EC-16EA-5009-5D33-ABFC55F2813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B09EC6D-8ED5-29E9-9444-CC2D6A1CB8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1ADFC6-7CEA-ABEE-94C2-870B1E65737A}"/>
              </a:ext>
            </a:extLst>
          </p:cNvPr>
          <p:cNvSpPr>
            <a:spLocks noGrp="1"/>
          </p:cNvSpPr>
          <p:nvPr>
            <p:ph type="dt" sz="half" idx="10"/>
          </p:nvPr>
        </p:nvSpPr>
        <p:spPr/>
        <p:txBody>
          <a:bodyPr/>
          <a:lstStyle/>
          <a:p>
            <a:fld id="{5576931C-EA1A-43DD-B3B3-66F5BA587712}" type="datetime1">
              <a:rPr lang="en-IN" smtClean="0"/>
              <a:t>01-09-2026</a:t>
            </a:fld>
            <a:endParaRPr lang="en-IN"/>
          </a:p>
        </p:txBody>
      </p:sp>
      <p:sp>
        <p:nvSpPr>
          <p:cNvPr id="5" name="Footer Placeholder 4">
            <a:extLst>
              <a:ext uri="{FF2B5EF4-FFF2-40B4-BE49-F238E27FC236}">
                <a16:creationId xmlns:a16="http://schemas.microsoft.com/office/drawing/2014/main" id="{7B1FA3A5-596E-6C2A-F853-30C5DC6FBF0D}"/>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12CE6B1-CE87-B68F-9494-FA6D109F3896}"/>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659809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0FF105-FC99-2BCB-131F-2B902F8BAE2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354FD6-064F-6E12-E8DE-81EC913CDB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1D2109-32D1-4A0F-F903-5142A204EF48}"/>
              </a:ext>
            </a:extLst>
          </p:cNvPr>
          <p:cNvSpPr>
            <a:spLocks noGrp="1"/>
          </p:cNvSpPr>
          <p:nvPr>
            <p:ph type="dt" sz="half" idx="10"/>
          </p:nvPr>
        </p:nvSpPr>
        <p:spPr/>
        <p:txBody>
          <a:bodyPr/>
          <a:lstStyle/>
          <a:p>
            <a:fld id="{82C9B0E1-7C95-4C20-B9C6-BA51F388E878}" type="datetime1">
              <a:rPr lang="en-IN" smtClean="0"/>
              <a:t>01-09-2026</a:t>
            </a:fld>
            <a:endParaRPr lang="en-IN"/>
          </a:p>
        </p:txBody>
      </p:sp>
      <p:sp>
        <p:nvSpPr>
          <p:cNvPr id="5" name="Footer Placeholder 4">
            <a:extLst>
              <a:ext uri="{FF2B5EF4-FFF2-40B4-BE49-F238E27FC236}">
                <a16:creationId xmlns:a16="http://schemas.microsoft.com/office/drawing/2014/main" id="{73E5353D-EEF9-CF3C-A97F-F0F0EBFA7C59}"/>
              </a:ext>
            </a:extLst>
          </p:cNvPr>
          <p:cNvSpPr>
            <a:spLocks noGrp="1"/>
          </p:cNvSpPr>
          <p:nvPr>
            <p:ph type="ftr" sz="quarter" idx="11"/>
          </p:nvPr>
        </p:nvSpPr>
        <p:spPr/>
        <p:txBody>
          <a:bodyPr/>
          <a:lstStyle/>
          <a:p>
            <a:r>
              <a:rPr lang="en-IN"/>
              <a:t>SCOPE</a:t>
            </a:r>
          </a:p>
        </p:txBody>
      </p:sp>
      <p:sp>
        <p:nvSpPr>
          <p:cNvPr id="6" name="Slide Number Placeholder 5">
            <a:extLst>
              <a:ext uri="{FF2B5EF4-FFF2-40B4-BE49-F238E27FC236}">
                <a16:creationId xmlns:a16="http://schemas.microsoft.com/office/drawing/2014/main" id="{3DF2F1DC-3958-BCDE-9A16-88E928E7ED2D}"/>
              </a:ext>
            </a:extLst>
          </p:cNvPr>
          <p:cNvSpPr>
            <a:spLocks noGrp="1"/>
          </p:cNvSpPr>
          <p:nvPr>
            <p:ph type="sldNum" sz="quarter" idx="12"/>
          </p:nvPr>
        </p:nvSpPr>
        <p:spPr/>
        <p:txBody>
          <a:bodyPr/>
          <a:lstStyle/>
          <a:p>
            <a:fld id="{65201FD4-9D8D-4491-815B-63C7BF4F0034}" type="slidenum">
              <a:rPr lang="en-IN" smtClean="0"/>
              <a:t>‹#›</a:t>
            </a:fld>
            <a:endParaRPr lang="en-IN"/>
          </a:p>
        </p:txBody>
      </p:sp>
    </p:spTree>
    <p:extLst>
      <p:ext uri="{BB962C8B-B14F-4D97-AF65-F5344CB8AC3E}">
        <p14:creationId xmlns:p14="http://schemas.microsoft.com/office/powerpoint/2010/main" val="3153354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454249-E28B-CF91-F4A6-9762E4F38B7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E3D641-7C66-CA7D-30A7-7F95AC27EF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5E1D408-B228-838E-3E43-4304680A53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827C3E-786B-4150-9177-1C28966A2ADC}" type="datetime1">
              <a:rPr lang="en-IN" smtClean="0"/>
              <a:t>01-09-2026</a:t>
            </a:fld>
            <a:endParaRPr lang="en-IN"/>
          </a:p>
        </p:txBody>
      </p:sp>
      <p:sp>
        <p:nvSpPr>
          <p:cNvPr id="5" name="Footer Placeholder 4">
            <a:extLst>
              <a:ext uri="{FF2B5EF4-FFF2-40B4-BE49-F238E27FC236}">
                <a16:creationId xmlns:a16="http://schemas.microsoft.com/office/drawing/2014/main" id="{DCEC7A69-1922-F157-900C-FF95668316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SCOPE</a:t>
            </a:r>
          </a:p>
        </p:txBody>
      </p:sp>
      <p:sp>
        <p:nvSpPr>
          <p:cNvPr id="6" name="Slide Number Placeholder 5">
            <a:extLst>
              <a:ext uri="{FF2B5EF4-FFF2-40B4-BE49-F238E27FC236}">
                <a16:creationId xmlns:a16="http://schemas.microsoft.com/office/drawing/2014/main" id="{51B80E76-E345-1553-9664-0BCF569B55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201FD4-9D8D-4491-815B-63C7BF4F0034}" type="slidenum">
              <a:rPr lang="en-IN" smtClean="0"/>
              <a:t>‹#›</a:t>
            </a:fld>
            <a:endParaRPr lang="en-IN"/>
          </a:p>
        </p:txBody>
      </p:sp>
    </p:spTree>
    <p:extLst>
      <p:ext uri="{BB962C8B-B14F-4D97-AF65-F5344CB8AC3E}">
        <p14:creationId xmlns:p14="http://schemas.microsoft.com/office/powerpoint/2010/main" val="1391841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9E27CD-EF84-CB3A-3D07-A3152356892A}"/>
              </a:ext>
            </a:extLst>
          </p:cNvPr>
          <p:cNvPicPr>
            <a:picLocks noChangeAspect="1"/>
          </p:cNvPicPr>
          <p:nvPr/>
        </p:nvPicPr>
        <p:blipFill>
          <a:blip r:embed="rId2"/>
          <a:stretch>
            <a:fillRect/>
          </a:stretch>
        </p:blipFill>
        <p:spPr>
          <a:xfrm>
            <a:off x="3837236" y="-11493"/>
            <a:ext cx="4517528" cy="1871634"/>
          </a:xfrm>
          <a:prstGeom prst="rect">
            <a:avLst/>
          </a:prstGeom>
        </p:spPr>
      </p:pic>
      <p:sp>
        <p:nvSpPr>
          <p:cNvPr id="7" name="Title 6">
            <a:extLst>
              <a:ext uri="{FF2B5EF4-FFF2-40B4-BE49-F238E27FC236}">
                <a16:creationId xmlns:a16="http://schemas.microsoft.com/office/drawing/2014/main" id="{8BAD67C4-20B4-E1F6-A7E7-C8C33181D0C9}"/>
              </a:ext>
            </a:extLst>
          </p:cNvPr>
          <p:cNvSpPr txBox="1">
            <a:spLocks noGrp="1"/>
          </p:cNvSpPr>
          <p:nvPr>
            <p:ph type="ctrTitle"/>
          </p:nvPr>
        </p:nvSpPr>
        <p:spPr>
          <a:xfrm>
            <a:off x="1907459" y="1934141"/>
            <a:ext cx="8924544" cy="1089529"/>
          </a:xfrm>
          <a:prstGeom prst="rect">
            <a:avLst/>
          </a:prstGeom>
          <a:noFill/>
        </p:spPr>
        <p:txBody>
          <a:bodyPr wrap="square" lIns="73152" rIns="73152" rtlCol="0" anchor="ctr">
            <a:spAutoFit/>
          </a:bodyPr>
          <a:lstStyle/>
          <a:p>
            <a:pPr algn="ctr">
              <a:spcAft>
                <a:spcPts val="200"/>
              </a:spcAft>
              <a:defRPr sz="1400" b="0">
                <a:solidFill>
                  <a:srgbClr val="64748B"/>
                </a:solidFill>
                <a:latin typeface="Calibri"/>
              </a:defRPr>
            </a:pPr>
            <a:r>
              <a:t>B.Tech. Computer Science and Engineering (Information Security)</a:t>
            </a:r>
          </a:p>
          <a:p>
            <a:pPr algn="ctr">
              <a:spcAft>
                <a:spcPts val="600"/>
              </a:spcAft>
              <a:defRPr sz="1500" b="1">
                <a:solidFill>
                  <a:srgbClr val="0284C7"/>
                </a:solidFill>
                <a:latin typeface="Calibri"/>
              </a:defRPr>
            </a:pPr>
            <a:r>
              <a:t>Course: BCSE497J – Project-I</a:t>
            </a:r>
          </a:p>
          <a:p>
            <a:pPr algn="ctr">
              <a:spcAft>
                <a:spcPts val="400"/>
              </a:spcAft>
              <a:defRPr sz="2400" b="1">
                <a:solidFill>
                  <a:srgbClr val="1F4E79"/>
                </a:solidFill>
                <a:latin typeface="Calibri"/>
              </a:defRPr>
            </a:pPr>
            <a:r>
              <a:t>CareChain: Decentralized Electronic Health Record Management</a:t>
            </a:r>
          </a:p>
          <a:p>
            <a:pPr algn="ctr">
              <a:spcAft>
                <a:spcPts val="0"/>
              </a:spcAft>
              <a:defRPr sz="1400" b="0">
                <a:solidFill>
                  <a:srgbClr val="1E293B"/>
                </a:solidFill>
                <a:latin typeface="Calibri"/>
              </a:defRPr>
            </a:pPr>
            <a:r>
              <a:t>Patient-Centric Zero-Trust Healthcare Architecture using Blockchain &amp; IPFS</a:t>
            </a:r>
          </a:p>
        </p:txBody>
      </p:sp>
      <p:sp>
        <p:nvSpPr>
          <p:cNvPr id="9" name="object 3">
            <a:extLst>
              <a:ext uri="{FF2B5EF4-FFF2-40B4-BE49-F238E27FC236}">
                <a16:creationId xmlns:a16="http://schemas.microsoft.com/office/drawing/2014/main" id="{68BC382C-506F-4908-6AC3-C0AA73064F47}"/>
              </a:ext>
            </a:extLst>
          </p:cNvPr>
          <p:cNvSpPr txBox="1"/>
          <p:nvPr/>
        </p:nvSpPr>
        <p:spPr>
          <a:xfrm>
            <a:off x="2609088" y="3763049"/>
            <a:ext cx="7071360" cy="1351652"/>
          </a:xfrm>
          <a:prstGeom prst="rect">
            <a:avLst/>
          </a:prstGeom>
        </p:spPr>
        <p:txBody>
          <a:bodyPr vert="horz" wrap="square" lIns="73152" rIns="73152" rtlCol="0" anchor="ctr">
            <a:spAutoFit/>
          </a:bodyPr>
          <a:lstStyle/>
          <a:p>
            <a:pPr algn="ctr">
              <a:lnSpc>
                <a:spcPct val="100000"/>
              </a:lnSpc>
              <a:spcBef>
                <a:spcPts val="200"/>
              </a:spcBef>
              <a:spcAft>
                <a:spcPts val="200"/>
              </a:spcAft>
              <a:defRPr sz="1400" b="1">
                <a:solidFill>
                  <a:srgbClr val="0284C7"/>
                </a:solidFill>
                <a:latin typeface="Calibri"/>
              </a:defRPr>
            </a:pPr>
            <a:r>
              <a:rPr dirty="0"/>
              <a:t>Candidate Details</a:t>
            </a:r>
            <a:endParaRPr sz="1800" dirty="0">
              <a:latin typeface="Times New Roman"/>
              <a:cs typeface="Times New Roman"/>
            </a:endParaRPr>
          </a:p>
          <a:p>
            <a:pPr algn="ctr">
              <a:spcAft>
                <a:spcPts val="800"/>
              </a:spcAft>
              <a:defRPr sz="1500" b="1">
                <a:solidFill>
                  <a:srgbClr val="1F4E79"/>
                </a:solidFill>
                <a:latin typeface="Calibri"/>
              </a:defRPr>
            </a:pPr>
            <a:r>
              <a:rPr dirty="0"/>
              <a:t>Ashish Anil Sikaria  (23BCI0218)</a:t>
            </a:r>
          </a:p>
          <a:p>
            <a:pPr algn="ctr">
              <a:spcAft>
                <a:spcPts val="200"/>
              </a:spcAft>
              <a:defRPr sz="1400" b="1">
                <a:solidFill>
                  <a:srgbClr val="0284C7"/>
                </a:solidFill>
                <a:latin typeface="Calibri"/>
              </a:defRPr>
            </a:pPr>
            <a:r>
              <a:rPr dirty="0"/>
              <a:t>Faculty Guide</a:t>
            </a:r>
          </a:p>
          <a:p>
            <a:pPr algn="ctr">
              <a:spcAft>
                <a:spcPts val="100"/>
              </a:spcAft>
              <a:defRPr sz="1500" b="1">
                <a:solidFill>
                  <a:srgbClr val="1F4E79"/>
                </a:solidFill>
                <a:latin typeface="Calibri"/>
              </a:defRPr>
            </a:pPr>
            <a:r>
              <a:rPr dirty="0"/>
              <a:t>Dr. Selvi M</a:t>
            </a:r>
          </a:p>
          <a:p>
            <a:pPr algn="ctr">
              <a:spcAft>
                <a:spcPts val="800"/>
              </a:spcAft>
              <a:defRPr sz="1300" b="0">
                <a:solidFill>
                  <a:srgbClr val="64748B"/>
                </a:solidFill>
                <a:latin typeface="Calibri"/>
              </a:defRPr>
            </a:pPr>
            <a:r>
              <a:rPr dirty="0"/>
              <a:t>Associate Professor Grade 2, SCOPE</a:t>
            </a:r>
          </a:p>
        </p:txBody>
      </p:sp>
    </p:spTree>
    <p:extLst>
      <p:ext uri="{BB962C8B-B14F-4D97-AF65-F5344CB8AC3E}">
        <p14:creationId xmlns:p14="http://schemas.microsoft.com/office/powerpoint/2010/main" val="4243036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CBE13-A9D6-9564-DA47-597E38E09F70}"/>
              </a:ext>
            </a:extLst>
          </p:cNvPr>
          <p:cNvSpPr>
            <a:spLocks noGrp="1"/>
          </p:cNvSpPr>
          <p:nvPr>
            <p:ph type="title"/>
          </p:nvPr>
        </p:nvSpPr>
        <p:spPr/>
        <p:txBody>
          <a:bodyPr wrap="square" lIns="73152" rIns="73152" anchor="ctr">
            <a:normAutofit/>
          </a:bodyPr>
          <a:lstStyle/>
          <a:p>
            <a:pPr algn="l">
              <a:spcAft>
                <a:spcPts val="0"/>
              </a:spcAft>
              <a:defRPr sz="2400" b="1">
                <a:solidFill>
                  <a:srgbClr val="1F4E79"/>
                </a:solidFill>
                <a:latin typeface="Calibri"/>
              </a:defRPr>
            </a:pPr>
            <a:r>
              <a:t>Approval Mail From Faculty Guide</a:t>
            </a:r>
          </a:p>
        </p:txBody>
      </p:sp>
      <p:sp>
        <p:nvSpPr>
          <p:cNvPr id="4" name="Date Placeholder 3">
            <a:extLst>
              <a:ext uri="{FF2B5EF4-FFF2-40B4-BE49-F238E27FC236}">
                <a16:creationId xmlns:a16="http://schemas.microsoft.com/office/drawing/2014/main" id="{C7827C50-3ED3-2DB6-C227-6784C6CA9E30}"/>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dirty="0"/>
          </a:p>
        </p:txBody>
      </p:sp>
      <p:sp>
        <p:nvSpPr>
          <p:cNvPr id="5" name="Footer Placeholder 4">
            <a:extLst>
              <a:ext uri="{FF2B5EF4-FFF2-40B4-BE49-F238E27FC236}">
                <a16:creationId xmlns:a16="http://schemas.microsoft.com/office/drawing/2014/main" id="{56664170-792F-28F8-1C31-5F7A8D69F97E}"/>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6" name="Slide Number Placeholder 5">
            <a:extLst>
              <a:ext uri="{FF2B5EF4-FFF2-40B4-BE49-F238E27FC236}">
                <a16:creationId xmlns:a16="http://schemas.microsoft.com/office/drawing/2014/main" id="{EE16528B-72DB-0275-6A94-33ABB5CD7075}"/>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2</a:t>
            </a:r>
            <a:endParaRPr lang="en-IN"/>
          </a:p>
        </p:txBody>
      </p:sp>
    </p:spTree>
    <p:extLst>
      <p:ext uri="{BB962C8B-B14F-4D97-AF65-F5344CB8AC3E}">
        <p14:creationId xmlns:p14="http://schemas.microsoft.com/office/powerpoint/2010/main" val="12565606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68A428-04DA-E6A8-7606-5D2FE5F31C52}"/>
              </a:ext>
            </a:extLst>
          </p:cNvPr>
          <p:cNvSpPr>
            <a:spLocks noGrp="1"/>
          </p:cNvSpPr>
          <p:nvPr>
            <p:ph idx="1"/>
          </p:nvPr>
        </p:nvSpPr>
        <p:spPr/>
        <p:txBody>
          <a:bodyPr wrap="square" lIns="73152" rIns="73152" anchor="t">
            <a:normAutofit/>
          </a:bodyPr>
          <a:lstStyle/>
          <a:p>
            <a:pPr algn="l">
              <a:spcAft>
                <a:spcPts val="400"/>
              </a:spcAft>
              <a:defRPr sz="1600" b="1">
                <a:solidFill>
                  <a:srgbClr val="0284C7"/>
                </a:solidFill>
                <a:latin typeface="Calibri"/>
              </a:defRPr>
            </a:pPr>
            <a:r>
              <a:t>Primary Aim:</a:t>
            </a:r>
          </a:p>
          <a:p>
            <a:pPr algn="l">
              <a:spcAft>
                <a:spcPts val="1200"/>
              </a:spcAft>
              <a:defRPr sz="1400" b="0">
                <a:solidFill>
                  <a:srgbClr val="1E293B"/>
                </a:solidFill>
                <a:latin typeface="Calibri"/>
              </a:defRPr>
            </a:pPr>
            <a:r>
              <a:t>To design, develop, and validate a secure, patient-centric Electronic Health Record (EHR) management platform that eliminates centralized single points of failure by decoupling encrypted medical data storage from on-chain access governance.</a:t>
            </a:r>
          </a:p>
          <a:p>
            <a:pPr algn="l">
              <a:spcAft>
                <a:spcPts val="400"/>
              </a:spcAft>
              <a:defRPr sz="1600" b="1">
                <a:solidFill>
                  <a:srgbClr val="0284C7"/>
                </a:solidFill>
                <a:latin typeface="Calibri"/>
              </a:defRPr>
            </a:pPr>
            <a:r>
              <a:t>Key Architectural Scope &amp; Deliverables:</a:t>
            </a:r>
          </a:p>
          <a:p>
            <a:pPr algn="l">
              <a:spcAft>
                <a:spcPts val="400"/>
              </a:spcAft>
              <a:defRPr sz="1300" b="0">
                <a:solidFill>
                  <a:srgbClr val="1E293B"/>
                </a:solidFill>
                <a:latin typeface="Calibri"/>
              </a:defRPr>
            </a:pPr>
            <a:r>
              <a:t>• Client-Side Cryptography: AES-256-GCM symmetric buffer encryption preventing plaintext exposure to network intermediaries.</a:t>
            </a:r>
          </a:p>
          <a:p>
            <a:pPr algn="l">
              <a:spcAft>
                <a:spcPts val="400"/>
              </a:spcAft>
              <a:defRPr sz="1300" b="0">
                <a:solidFill>
                  <a:srgbClr val="1E293B"/>
                </a:solidFill>
                <a:latin typeface="Calibri"/>
              </a:defRPr>
            </a:pPr>
            <a:r>
              <a:t>• Decentralized Off-Chain Storage: IPFS Pinata cluster storing encrypted clinical payloads with immutable Content Identifiers (CIDs).</a:t>
            </a:r>
          </a:p>
          <a:p>
            <a:pPr algn="l">
              <a:spcAft>
                <a:spcPts val="400"/>
              </a:spcAft>
              <a:defRPr sz="1300" b="0">
                <a:solidFill>
                  <a:srgbClr val="1E293B"/>
                </a:solidFill>
                <a:latin typeface="Calibri"/>
              </a:defRPr>
            </a:pPr>
            <a:r>
              <a:t>• On-Chain Smart Contract Governance: Solidity smart contract (MedicalRecord.sol) enforcing patient-controlled access matrices (doctorPermissions) and practitioner licensing.</a:t>
            </a:r>
          </a:p>
          <a:p>
            <a:pPr algn="l">
              <a:spcAft>
                <a:spcPts val="0"/>
              </a:spcAft>
              <a:defRPr sz="1300" b="0">
                <a:solidFill>
                  <a:srgbClr val="1E293B"/>
                </a:solidFill>
                <a:latin typeface="Calibri"/>
              </a:defRPr>
            </a:pPr>
            <a:r>
              <a:t>• Multi-Role Web3 Portals: Dedicated responsive interfaces for Patients, Doctors, and Hospital Admins with MetaMask wallet signing.</a:t>
            </a:r>
          </a:p>
        </p:txBody>
      </p:sp>
      <p:sp>
        <p:nvSpPr>
          <p:cNvPr id="4" name="object 2">
            <a:extLst>
              <a:ext uri="{FF2B5EF4-FFF2-40B4-BE49-F238E27FC236}">
                <a16:creationId xmlns:a16="http://schemas.microsoft.com/office/drawing/2014/main" id="{027305EA-516C-11F8-8A54-2BA046094ABC}"/>
              </a:ext>
            </a:extLst>
          </p:cNvPr>
          <p:cNvSpPr txBox="1">
            <a:spLocks noGrp="1"/>
          </p:cNvSpPr>
          <p:nvPr>
            <p:ph type="title"/>
          </p:nvPr>
        </p:nvSpPr>
        <p:spPr>
          <a:xfrm>
            <a:off x="838200" y="739558"/>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Aim &amp; Scope of the Project</a:t>
            </a:r>
            <a:endParaRPr sz="3000" b="1" dirty="0">
              <a:latin typeface="Times New Roman" panose="02020603050405020304" pitchFamily="18" charset="0"/>
              <a:cs typeface="Times New Roman" panose="02020603050405020304" pitchFamily="18" charset="0"/>
            </a:endParaRPr>
          </a:p>
        </p:txBody>
      </p:sp>
      <p:sp>
        <p:nvSpPr>
          <p:cNvPr id="7" name="Date Placeholder 6">
            <a:extLst>
              <a:ext uri="{FF2B5EF4-FFF2-40B4-BE49-F238E27FC236}">
                <a16:creationId xmlns:a16="http://schemas.microsoft.com/office/drawing/2014/main" id="{779E6AA7-AE20-8A91-BA42-261BF76A2F8B}"/>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p>
        </p:txBody>
      </p:sp>
      <p:sp>
        <p:nvSpPr>
          <p:cNvPr id="8" name="Footer Placeholder 7">
            <a:extLst>
              <a:ext uri="{FF2B5EF4-FFF2-40B4-BE49-F238E27FC236}">
                <a16:creationId xmlns:a16="http://schemas.microsoft.com/office/drawing/2014/main" id="{B77FE434-77F0-B8BE-9198-66090332F3F0}"/>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9" name="Slide Number Placeholder 8">
            <a:extLst>
              <a:ext uri="{FF2B5EF4-FFF2-40B4-BE49-F238E27FC236}">
                <a16:creationId xmlns:a16="http://schemas.microsoft.com/office/drawing/2014/main" id="{5AD6A9DA-AEE9-F6FE-EFA8-06396314F7E6}"/>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3</a:t>
            </a:r>
            <a:endParaRPr lang="en-IN"/>
          </a:p>
        </p:txBody>
      </p:sp>
    </p:spTree>
    <p:extLst>
      <p:ext uri="{BB962C8B-B14F-4D97-AF65-F5344CB8AC3E}">
        <p14:creationId xmlns:p14="http://schemas.microsoft.com/office/powerpoint/2010/main" val="25435188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D95E8-8D7C-F548-8B75-23C3B2B15B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DDED8F-1EBD-2E10-598E-0CA3F56F05DF}"/>
              </a:ext>
            </a:extLst>
          </p:cNvPr>
          <p:cNvSpPr>
            <a:spLocks noGrp="1"/>
          </p:cNvSpPr>
          <p:nvPr>
            <p:ph idx="1"/>
          </p:nvPr>
        </p:nvSpPr>
        <p:spPr/>
        <p:txBody>
          <a:bodyPr wrap="square" lIns="73152" rIns="73152" anchor="t">
            <a:normAutofit/>
          </a:bodyPr>
          <a:lstStyle/>
          <a:p>
            <a:pPr algn="l">
              <a:spcAft>
                <a:spcPts val="200"/>
              </a:spcAft>
              <a:defRPr sz="1500" b="1">
                <a:solidFill>
                  <a:srgbClr val="0284C7"/>
                </a:solidFill>
                <a:latin typeface="Calibri"/>
              </a:defRPr>
            </a:pPr>
            <a:r>
              <a:t>Background &amp; Challenge:</a:t>
            </a:r>
          </a:p>
          <a:p>
            <a:pPr algn="l">
              <a:spcAft>
                <a:spcPts val="800"/>
              </a:spcAft>
              <a:defRPr sz="1300" b="0">
                <a:solidFill>
                  <a:srgbClr val="1E293B"/>
                </a:solidFill>
                <a:latin typeface="Calibri"/>
              </a:defRPr>
            </a:pPr>
            <a:r>
              <a:t>Centralized hospital EHR databases represent lucrative single points of failure vulnerable to ransomware, unauthorized commercial data exploitation, and catastrophic breaches (over 133M records exposed globally). Patients lack direct sovereignty and real-time auditing over who accesses or shares their sensitive diagnostic history.</a:t>
            </a:r>
          </a:p>
          <a:p>
            <a:pPr algn="l">
              <a:spcAft>
                <a:spcPts val="200"/>
              </a:spcAft>
              <a:defRPr sz="1500" b="1">
                <a:solidFill>
                  <a:srgbClr val="0284C7"/>
                </a:solidFill>
                <a:latin typeface="Calibri"/>
              </a:defRPr>
            </a:pPr>
            <a:r>
              <a:t>CareChain Proposed Protocol:</a:t>
            </a:r>
          </a:p>
          <a:p>
            <a:pPr algn="l">
              <a:spcAft>
                <a:spcPts val="800"/>
              </a:spcAft>
              <a:defRPr sz="1300" b="0">
                <a:solidFill>
                  <a:srgbClr val="1E293B"/>
                </a:solidFill>
                <a:latin typeface="Calibri"/>
              </a:defRPr>
            </a:pPr>
            <a:r>
              <a:t>CareChain introduces a zero-trust, hybrid architecture combining client-side AES-256-GCM encryption, decentralized IPFS pinning, and Ethereum/Polygon smart contracts. The platform ensures zero Protected Health Information (PHI) is ever exposed on-chain while providing non-repudiable access logs.</a:t>
            </a:r>
          </a:p>
          <a:p>
            <a:pPr algn="l">
              <a:spcAft>
                <a:spcPts val="200"/>
              </a:spcAft>
              <a:defRPr sz="1500" b="1">
                <a:solidFill>
                  <a:srgbClr val="0284C7"/>
                </a:solidFill>
                <a:latin typeface="Calibri"/>
              </a:defRPr>
            </a:pPr>
            <a:r>
              <a:t>Review-2 Implementation Status (~75% Completed):</a:t>
            </a:r>
          </a:p>
          <a:p>
            <a:pPr algn="l">
              <a:spcAft>
                <a:spcPts val="0"/>
              </a:spcAft>
              <a:defRPr sz="1300" b="0">
                <a:solidFill>
                  <a:srgbClr val="1E293B"/>
                </a:solidFill>
                <a:latin typeface="Calibri"/>
              </a:defRPr>
            </a:pPr>
            <a:r>
              <a:t>• MedicalRecord.sol deployed with 100% automated test coverage (11/11 Hardhat unit tests passing).</a:t>
            </a:r>
            <a:br/>
            <a:r>
              <a:t>• Client-side encryption engine and IPFS Pinata gateway operational with sub-second latency.</a:t>
            </a:r>
            <a:br/>
            <a:r>
              <a:t>• Role-based portals (Patient, Doctor, Admin) integrated with MetaMask Web3 wallet authentication.</a:t>
            </a:r>
          </a:p>
        </p:txBody>
      </p:sp>
      <p:sp>
        <p:nvSpPr>
          <p:cNvPr id="4" name="object 2">
            <a:extLst>
              <a:ext uri="{FF2B5EF4-FFF2-40B4-BE49-F238E27FC236}">
                <a16:creationId xmlns:a16="http://schemas.microsoft.com/office/drawing/2014/main" id="{156C6ACB-BF9E-DB99-B99C-4896C652737E}"/>
              </a:ext>
            </a:extLst>
          </p:cNvPr>
          <p:cNvSpPr txBox="1">
            <a:spLocks noGrp="1"/>
          </p:cNvSpPr>
          <p:nvPr>
            <p:ph type="title"/>
          </p:nvPr>
        </p:nvSpPr>
        <p:spPr>
          <a:xfrm>
            <a:off x="838200" y="739558"/>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Abstract</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7C3D067F-DF0A-3BD2-0B9E-C22E39B7F8C0}"/>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p>
        </p:txBody>
      </p:sp>
      <p:sp>
        <p:nvSpPr>
          <p:cNvPr id="5" name="Footer Placeholder 4">
            <a:extLst>
              <a:ext uri="{FF2B5EF4-FFF2-40B4-BE49-F238E27FC236}">
                <a16:creationId xmlns:a16="http://schemas.microsoft.com/office/drawing/2014/main" id="{E1EFD8C3-C2D0-4BBB-7FD8-43FE2C084A64}"/>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6" name="Slide Number Placeholder 5">
            <a:extLst>
              <a:ext uri="{FF2B5EF4-FFF2-40B4-BE49-F238E27FC236}">
                <a16:creationId xmlns:a16="http://schemas.microsoft.com/office/drawing/2014/main" id="{8BB9991A-41D4-F0AB-EF39-ACE70C817D43}"/>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4</a:t>
            </a:r>
            <a:endParaRPr lang="en-IN"/>
          </a:p>
        </p:txBody>
      </p:sp>
    </p:spTree>
    <p:extLst>
      <p:ext uri="{BB962C8B-B14F-4D97-AF65-F5344CB8AC3E}">
        <p14:creationId xmlns:p14="http://schemas.microsoft.com/office/powerpoint/2010/main" val="34530979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0AE58-8206-476A-BECC-A1ADC0EA154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5FB437-6170-6BA2-1A38-A902855A3E61}"/>
              </a:ext>
            </a:extLst>
          </p:cNvPr>
          <p:cNvSpPr txBox="1">
            <a:spLocks noGrp="1"/>
          </p:cNvSpPr>
          <p:nvPr>
            <p:ph type="title"/>
          </p:nvPr>
        </p:nvSpPr>
        <p:spPr>
          <a:xfrm>
            <a:off x="448056" y="681037"/>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Literature Review &amp; Benchmark Analysis</a:t>
            </a:r>
            <a:endParaRPr sz="3000" b="1" dirty="0">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913BC6E0-D294-E70D-8B27-13FBFEE5E6F7}"/>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p>
        </p:txBody>
      </p:sp>
      <p:sp>
        <p:nvSpPr>
          <p:cNvPr id="9" name="Footer Placeholder 8">
            <a:extLst>
              <a:ext uri="{FF2B5EF4-FFF2-40B4-BE49-F238E27FC236}">
                <a16:creationId xmlns:a16="http://schemas.microsoft.com/office/drawing/2014/main" id="{1F284BA2-3334-3EC1-0E81-4C909589729F}"/>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10" name="Slide Number Placeholder 9">
            <a:extLst>
              <a:ext uri="{FF2B5EF4-FFF2-40B4-BE49-F238E27FC236}">
                <a16:creationId xmlns:a16="http://schemas.microsoft.com/office/drawing/2014/main" id="{5A8F14EB-D02F-8EDE-87F4-A3F7E8D20C44}"/>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5</a:t>
            </a:r>
            <a:endParaRPr lang="en-IN"/>
          </a:p>
        </p:txBody>
      </p:sp>
      <p:pic>
        <p:nvPicPr>
          <p:cNvPr id="11" name="Picture 10" descr="literature_comparison_table.png"/>
          <p:cNvPicPr>
            <a:picLocks noChangeAspect="1"/>
          </p:cNvPicPr>
          <p:nvPr/>
        </p:nvPicPr>
        <p:blipFill>
          <a:blip r:embed="rId2"/>
          <a:stretch>
            <a:fillRect/>
          </a:stretch>
        </p:blipFill>
        <p:spPr>
          <a:xfrm>
            <a:off x="822960" y="1691640"/>
            <a:ext cx="10515600" cy="4114800"/>
          </a:xfrm>
          <a:prstGeom prst="rect">
            <a:avLst/>
          </a:prstGeom>
        </p:spPr>
      </p:pic>
    </p:spTree>
    <p:extLst>
      <p:ext uri="{BB962C8B-B14F-4D97-AF65-F5344CB8AC3E}">
        <p14:creationId xmlns:p14="http://schemas.microsoft.com/office/powerpoint/2010/main" val="857449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64C5E-26B3-2EE9-895A-F822E4C49E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7F8AC8-6380-9217-CA4C-1FBF1C25C60E}"/>
              </a:ext>
            </a:extLst>
          </p:cNvPr>
          <p:cNvSpPr>
            <a:spLocks noGrp="1"/>
          </p:cNvSpPr>
          <p:nvPr>
            <p:ph idx="1"/>
          </p:nvPr>
        </p:nvSpPr>
        <p:spPr/>
        <p:txBody>
          <a:bodyPr wrap="square" lIns="73152" rIns="73152" anchor="t">
            <a:normAutofit/>
          </a:bodyPr>
          <a:lstStyle/>
          <a:p>
            <a:pPr algn="l">
              <a:spcAft>
                <a:spcPts val="200"/>
              </a:spcAft>
              <a:defRPr sz="1400" b="1">
                <a:solidFill>
                  <a:srgbClr val="0284C7"/>
                </a:solidFill>
                <a:latin typeface="Calibri"/>
              </a:defRPr>
            </a:pPr>
            <a:r>
              <a:t>1. Centralized Data Custody vs. CareChain Decentralized IPFS Storage</a:t>
            </a:r>
          </a:p>
          <a:p>
            <a:pPr algn="l">
              <a:spcAft>
                <a:spcPts val="600"/>
              </a:spcAft>
              <a:defRPr sz="1250" b="0">
                <a:solidFill>
                  <a:srgbClr val="1E293B"/>
                </a:solidFill>
                <a:latin typeface="Calibri"/>
              </a:defRPr>
            </a:pPr>
            <a:r>
              <a:t>Existing systems rely on centralized cloud repositories vulnerable to single-point breaches. CareChain decouples storage to IPFS with 46-byte cryptographic CID references.</a:t>
            </a:r>
          </a:p>
          <a:p>
            <a:pPr algn="l">
              <a:spcAft>
                <a:spcPts val="200"/>
              </a:spcAft>
              <a:defRPr sz="1400" b="1">
                <a:solidFill>
                  <a:srgbClr val="0284C7"/>
                </a:solidFill>
                <a:latin typeface="Calibri"/>
              </a:defRPr>
            </a:pPr>
            <a:r>
              <a:t>2. Static Permissions vs. Patient Sovereignty &amp; Instant Revocation</a:t>
            </a:r>
          </a:p>
          <a:p>
            <a:pPr algn="l">
              <a:spcAft>
                <a:spcPts val="600"/>
              </a:spcAft>
              <a:defRPr sz="1250" b="0">
                <a:solidFill>
                  <a:srgbClr val="1E293B"/>
                </a:solidFill>
                <a:latin typeface="Calibri"/>
              </a:defRPr>
            </a:pPr>
            <a:r>
              <a:t>Traditional EHRs prevent patients from dynamically granting/revoking doctor access. CareChain smart contracts execute instant on-chain permission updates.</a:t>
            </a:r>
          </a:p>
          <a:p>
            <a:pPr algn="l">
              <a:spcAft>
                <a:spcPts val="200"/>
              </a:spcAft>
              <a:defRPr sz="1400" b="1">
                <a:solidFill>
                  <a:srgbClr val="0284C7"/>
                </a:solidFill>
                <a:latin typeface="Calibri"/>
              </a:defRPr>
            </a:pPr>
            <a:r>
              <a:t>3. Prohibitive Blockchain Gas Costs vs. Hybrid Lightweight Anchoring</a:t>
            </a:r>
          </a:p>
          <a:p>
            <a:pPr algn="l">
              <a:spcAft>
                <a:spcPts val="600"/>
              </a:spcAft>
              <a:defRPr sz="1250" b="0">
                <a:solidFill>
                  <a:srgbClr val="1E293B"/>
                </a:solidFill>
                <a:latin typeface="Calibri"/>
              </a:defRPr>
            </a:pPr>
            <a:r>
              <a:t>Storing large medical files directly on-chain is economically unfeasible. CareChain stores encrypted payloads off-chain, ensuring O(1) constant gas consumption.</a:t>
            </a:r>
          </a:p>
          <a:p>
            <a:pPr algn="l">
              <a:spcAft>
                <a:spcPts val="200"/>
              </a:spcAft>
              <a:defRPr sz="1400" b="1">
                <a:solidFill>
                  <a:srgbClr val="0284C7"/>
                </a:solidFill>
                <a:latin typeface="Calibri"/>
              </a:defRPr>
            </a:pPr>
            <a:r>
              <a:t>4. Unverified Practitioners vs. Smart Contract Doctor Licensing Registry</a:t>
            </a:r>
          </a:p>
          <a:p>
            <a:pPr algn="l">
              <a:spcAft>
                <a:spcPts val="0"/>
              </a:spcAft>
              <a:defRPr sz="1250" b="0">
                <a:solidFill>
                  <a:srgbClr val="1E293B"/>
                </a:solidFill>
                <a:latin typeface="Calibri"/>
              </a:defRPr>
            </a:pPr>
            <a:r>
              <a:t>Academic demos frequently overlook clinician verification. CareChain integrates hospital admin governance to verify medical licenses before record access.</a:t>
            </a:r>
          </a:p>
        </p:txBody>
      </p:sp>
      <p:sp>
        <p:nvSpPr>
          <p:cNvPr id="4" name="object 2">
            <a:extLst>
              <a:ext uri="{FF2B5EF4-FFF2-40B4-BE49-F238E27FC236}">
                <a16:creationId xmlns:a16="http://schemas.microsoft.com/office/drawing/2014/main" id="{2E07AC55-BA5E-4123-39E6-B79860C6C9EE}"/>
              </a:ext>
            </a:extLst>
          </p:cNvPr>
          <p:cNvSpPr txBox="1">
            <a:spLocks noGrp="1"/>
          </p:cNvSpPr>
          <p:nvPr>
            <p:ph type="title"/>
          </p:nvPr>
        </p:nvSpPr>
        <p:spPr>
          <a:xfrm>
            <a:off x="460248" y="681037"/>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Identified Research Gaps &amp; CareChain Solutions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A2430A72-466B-CBDE-2F02-635BA91A98AF}"/>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p>
        </p:txBody>
      </p:sp>
      <p:sp>
        <p:nvSpPr>
          <p:cNvPr id="5" name="Footer Placeholder 4">
            <a:extLst>
              <a:ext uri="{FF2B5EF4-FFF2-40B4-BE49-F238E27FC236}">
                <a16:creationId xmlns:a16="http://schemas.microsoft.com/office/drawing/2014/main" id="{1711DDA3-7A7C-1F61-1795-3A01ED678FAB}"/>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6" name="Slide Number Placeholder 5">
            <a:extLst>
              <a:ext uri="{FF2B5EF4-FFF2-40B4-BE49-F238E27FC236}">
                <a16:creationId xmlns:a16="http://schemas.microsoft.com/office/drawing/2014/main" id="{D94E3226-1DB1-3A4D-CE37-4A2AD48EF1F1}"/>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6</a:t>
            </a:r>
            <a:endParaRPr lang="en-IN"/>
          </a:p>
        </p:txBody>
      </p:sp>
    </p:spTree>
    <p:extLst>
      <p:ext uri="{BB962C8B-B14F-4D97-AF65-F5344CB8AC3E}">
        <p14:creationId xmlns:p14="http://schemas.microsoft.com/office/powerpoint/2010/main" val="26231028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50AAC-0156-D6F5-7153-C79199994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83ADE1-559A-2DC2-A801-6A915E106C60}"/>
              </a:ext>
            </a:extLst>
          </p:cNvPr>
          <p:cNvSpPr>
            <a:spLocks noGrp="1"/>
          </p:cNvSpPr>
          <p:nvPr>
            <p:ph idx="1"/>
          </p:nvPr>
        </p:nvSpPr>
        <p:spPr/>
        <p:txBody>
          <a:bodyPr wrap="square" lIns="73152" rIns="73152" anchor="t">
            <a:normAutofit/>
          </a:bodyPr>
          <a:lstStyle/>
          <a:p>
            <a:pPr algn="l">
              <a:spcAft>
                <a:spcPts val="300"/>
              </a:spcAft>
              <a:defRPr sz="1500" b="1">
                <a:solidFill>
                  <a:srgbClr val="0284C7"/>
                </a:solidFill>
                <a:latin typeface="Calibri"/>
              </a:defRPr>
            </a:pPr>
            <a:r>
              <a:t>SMART Project Objectives:</a:t>
            </a:r>
          </a:p>
          <a:p>
            <a:pPr algn="l">
              <a:spcAft>
                <a:spcPts val="300"/>
              </a:spcAft>
              <a:defRPr sz="1300" b="0">
                <a:solidFill>
                  <a:srgbClr val="1E293B"/>
                </a:solidFill>
                <a:latin typeface="Calibri"/>
              </a:defRPr>
            </a:pPr>
            <a:r>
              <a:t>1. Develop Solidity Smart Contracts: Deploy MedicalRecord.sol for granular access control, verified practitioner registry, and tamper-proof event logging.</a:t>
            </a:r>
          </a:p>
          <a:p>
            <a:pPr algn="l">
              <a:spcAft>
                <a:spcPts val="300"/>
              </a:spcAft>
              <a:defRPr sz="1300" b="0">
                <a:solidFill>
                  <a:srgbClr val="1E293B"/>
                </a:solidFill>
                <a:latin typeface="Calibri"/>
              </a:defRPr>
            </a:pPr>
            <a:r>
              <a:t>2. Implement Client-Side Cryptography: Build AES-256-GCM symmetric encryption pipeline ensuring zero plaintext PHI leaves user devices.</a:t>
            </a:r>
          </a:p>
          <a:p>
            <a:pPr algn="l">
              <a:spcAft>
                <a:spcPts val="300"/>
              </a:spcAft>
              <a:defRPr sz="1300" b="0">
                <a:solidFill>
                  <a:srgbClr val="1E293B"/>
                </a:solidFill>
                <a:latin typeface="Calibri"/>
              </a:defRPr>
            </a:pPr>
            <a:r>
              <a:t>3. Integrate Decentralized Storage: Connect Pinata IPFS gateways for immutable, distributed file pinning with sub-2.5s retrieval latency.</a:t>
            </a:r>
          </a:p>
          <a:p>
            <a:pPr algn="l">
              <a:spcAft>
                <a:spcPts val="600"/>
              </a:spcAft>
              <a:defRPr sz="1300" b="0">
                <a:solidFill>
                  <a:srgbClr val="1E293B"/>
                </a:solidFill>
                <a:latin typeface="Calibri"/>
              </a:defRPr>
            </a:pPr>
            <a:r>
              <a:t>4. Deploy Role-Based Web3 Portals: Implement full-stack React 18 interfaces for Patients, Doctors, and Admins with MetaMask wallet authentication.</a:t>
            </a:r>
          </a:p>
        </p:txBody>
      </p:sp>
      <p:sp>
        <p:nvSpPr>
          <p:cNvPr id="4" name="object 2">
            <a:extLst>
              <a:ext uri="{FF2B5EF4-FFF2-40B4-BE49-F238E27FC236}">
                <a16:creationId xmlns:a16="http://schemas.microsoft.com/office/drawing/2014/main" id="{22BADD22-870A-4D8F-B788-CCCD5C223F9A}"/>
              </a:ext>
            </a:extLst>
          </p:cNvPr>
          <p:cNvSpPr txBox="1">
            <a:spLocks noGrp="1"/>
          </p:cNvSpPr>
          <p:nvPr>
            <p:ph type="title"/>
          </p:nvPr>
        </p:nvSpPr>
        <p:spPr>
          <a:xfrm>
            <a:off x="460248" y="681037"/>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Project Objectives, UN SDGs &amp; Expected Outcomes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BE4F0EB-E8F1-14D8-E22A-38E83F9BFA94}"/>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6D8B93F-BA73-08B5-E0DD-D434FA25B92B}"/>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6" name="Slide Number Placeholder 5">
            <a:extLst>
              <a:ext uri="{FF2B5EF4-FFF2-40B4-BE49-F238E27FC236}">
                <a16:creationId xmlns:a16="http://schemas.microsoft.com/office/drawing/2014/main" id="{E6BABF72-E9F9-626A-63CD-EA20C0714ABC}"/>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7</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2632EBB-2D05-8D00-7F98-43CBAFAF06ED}"/>
              </a:ext>
            </a:extLst>
          </p:cNvPr>
          <p:cNvSpPr txBox="1"/>
          <p:nvPr/>
        </p:nvSpPr>
        <p:spPr>
          <a:xfrm>
            <a:off x="460248" y="4413148"/>
            <a:ext cx="11523407" cy="892552"/>
          </a:xfrm>
          <a:prstGeom prst="rect">
            <a:avLst/>
          </a:prstGeom>
          <a:noFill/>
        </p:spPr>
        <p:txBody>
          <a:bodyPr wrap="square" lIns="73152" rIns="73152" rtlCol="0" anchor="t">
            <a:spAutoFit/>
          </a:bodyPr>
          <a:lstStyle/>
          <a:p>
            <a:pPr algn="l">
              <a:spcAft>
                <a:spcPts val="100"/>
              </a:spcAft>
              <a:defRPr sz="1200" b="1">
                <a:solidFill>
                  <a:srgbClr val="0284C7"/>
                </a:solidFill>
                <a:latin typeface="Calibri"/>
              </a:defRPr>
            </a:pPr>
            <a:r>
              <a:t>Identified UN Sustainable Development Goals:</a:t>
            </a:r>
          </a:p>
          <a:p>
            <a:pPr algn="l">
              <a:spcAft>
                <a:spcPts val="300"/>
              </a:spcAft>
              <a:defRPr sz="1100" b="0">
                <a:solidFill>
                  <a:srgbClr val="1E293B"/>
                </a:solidFill>
                <a:latin typeface="Calibri"/>
              </a:defRPr>
            </a:pPr>
            <a:r>
              <a:t>• SDG 3 (Target 3.8): Good Health &amp; Well-being (Interoperable, tamper-proof portable medical records)</a:t>
            </a:r>
            <a:br/>
            <a:r>
              <a:t>• SDG 9 (Target 9.5): Industry, Innovation &amp; Infrastructure (Decentralized resilient health data architecture)</a:t>
            </a:r>
          </a:p>
          <a:p>
            <a:pPr algn="l">
              <a:spcAft>
                <a:spcPts val="100"/>
              </a:spcAft>
              <a:defRPr sz="1200" b="1">
                <a:solidFill>
                  <a:srgbClr val="0284C7"/>
                </a:solidFill>
                <a:latin typeface="Calibri"/>
              </a:defRPr>
            </a:pPr>
            <a:r>
              <a:t>Technology Readiness Level &amp; Targeted Outcomes:</a:t>
            </a:r>
          </a:p>
          <a:p>
            <a:pPr algn="l">
              <a:spcAft>
                <a:spcPts val="0"/>
              </a:spcAft>
              <a:defRPr sz="1100" b="0">
                <a:solidFill>
                  <a:srgbClr val="1E293B"/>
                </a:solidFill>
                <a:latin typeface="Calibri"/>
              </a:defRPr>
            </a:pPr>
            <a:r>
              <a:t>• Maturity: TRL 6 (Working prototype demonstrated in relevant laboratory/operational environment)</a:t>
            </a:r>
            <a:br/>
            <a:r>
              <a:t>• Outcome: Scopus-indexed Conference/Journal Paper Draft, Open-Source DApp Repository, and Verified Smart Contracts</a:t>
            </a:r>
          </a:p>
        </p:txBody>
      </p:sp>
      <p:pic>
        <p:nvPicPr>
          <p:cNvPr id="8" name="Picture 7" descr="3 The UN 17 Sustainable Development Goals (SDGs), implemented by all... | Download Scientific Diagram">
            <a:extLst>
              <a:ext uri="{FF2B5EF4-FFF2-40B4-BE49-F238E27FC236}">
                <a16:creationId xmlns:a16="http://schemas.microsoft.com/office/drawing/2014/main" id="{36180A9B-AA72-E2D6-8362-4CDF7058D84A}"/>
              </a:ext>
            </a:extLst>
          </p:cNvPr>
          <p:cNvPicPr>
            <a:picLocks noChangeAspect="1"/>
          </p:cNvPicPr>
          <p:nvPr/>
        </p:nvPicPr>
        <p:blipFill>
          <a:blip r:embed="rId2"/>
          <a:stretch>
            <a:fillRect/>
          </a:stretch>
        </p:blipFill>
        <p:spPr>
          <a:xfrm>
            <a:off x="1990701" y="4778273"/>
            <a:ext cx="1968651" cy="1578077"/>
          </a:xfrm>
          <a:prstGeom prst="rect">
            <a:avLst/>
          </a:prstGeom>
        </p:spPr>
      </p:pic>
      <p:pic>
        <p:nvPicPr>
          <p:cNvPr id="9" name="Picture 8" descr="What are Technology Readiness Levels (TRL)? - TWI">
            <a:extLst>
              <a:ext uri="{FF2B5EF4-FFF2-40B4-BE49-F238E27FC236}">
                <a16:creationId xmlns:a16="http://schemas.microsoft.com/office/drawing/2014/main" id="{D1491C9C-07B3-89C3-5FA0-72C9F44F30AC}"/>
              </a:ext>
            </a:extLst>
          </p:cNvPr>
          <p:cNvPicPr>
            <a:picLocks noChangeAspect="1"/>
          </p:cNvPicPr>
          <p:nvPr/>
        </p:nvPicPr>
        <p:blipFill>
          <a:blip r:embed="rId3"/>
          <a:stretch>
            <a:fillRect/>
          </a:stretch>
        </p:blipFill>
        <p:spPr>
          <a:xfrm>
            <a:off x="5237545" y="4413148"/>
            <a:ext cx="2447027" cy="2232651"/>
          </a:xfrm>
          <a:prstGeom prst="rect">
            <a:avLst/>
          </a:prstGeom>
        </p:spPr>
      </p:pic>
    </p:spTree>
    <p:extLst>
      <p:ext uri="{BB962C8B-B14F-4D97-AF65-F5344CB8AC3E}">
        <p14:creationId xmlns:p14="http://schemas.microsoft.com/office/powerpoint/2010/main" val="23359624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49C0F-2490-21B4-8186-6F75540ACED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5DE9EA00-8D77-8DC9-1AE3-8B6FD1AF6BCC}"/>
              </a:ext>
            </a:extLst>
          </p:cNvPr>
          <p:cNvSpPr txBox="1">
            <a:spLocks noGrp="1"/>
          </p:cNvSpPr>
          <p:nvPr>
            <p:ph type="title"/>
          </p:nvPr>
        </p:nvSpPr>
        <p:spPr>
          <a:xfrm>
            <a:off x="460248" y="681037"/>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System Architecture &amp; 4-Tier Hybrid Design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3B40592E-46EE-B4F2-7D01-D3568C2F685A}"/>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5BCDC439-5940-84EE-247A-E3018795A431}"/>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6" name="Slide Number Placeholder 5">
            <a:extLst>
              <a:ext uri="{FF2B5EF4-FFF2-40B4-BE49-F238E27FC236}">
                <a16:creationId xmlns:a16="http://schemas.microsoft.com/office/drawing/2014/main" id="{A6CB23C8-7091-8CFB-BF2C-3A19CCA810FF}"/>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8</a:t>
            </a:r>
            <a:endParaRPr lang="en-IN" dirty="0">
              <a:latin typeface="Times New Roman" panose="02020603050405020304" pitchFamily="18" charset="0"/>
              <a:cs typeface="Times New Roman" panose="02020603050405020304" pitchFamily="18" charset="0"/>
            </a:endParaRPr>
          </a:p>
        </p:txBody>
      </p:sp>
      <p:pic>
        <p:nvPicPr>
          <p:cNvPr id="7" name="Picture 6" descr="architecture_diagram.png"/>
          <p:cNvPicPr>
            <a:picLocks noChangeAspect="1"/>
          </p:cNvPicPr>
          <p:nvPr/>
        </p:nvPicPr>
        <p:blipFill>
          <a:blip r:embed="rId2"/>
          <a:stretch>
            <a:fillRect/>
          </a:stretch>
        </p:blipFill>
        <p:spPr>
          <a:xfrm>
            <a:off x="838200" y="1825625"/>
            <a:ext cx="10515600" cy="4351338"/>
          </a:xfrm>
          <a:prstGeom prst="rect">
            <a:avLst/>
          </a:prstGeom>
        </p:spPr>
      </p:pic>
    </p:spTree>
    <p:extLst>
      <p:ext uri="{BB962C8B-B14F-4D97-AF65-F5344CB8AC3E}">
        <p14:creationId xmlns:p14="http://schemas.microsoft.com/office/powerpoint/2010/main" val="6381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95AF1-B807-AC15-9C1A-B86677AF63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F324FF-B70A-2FC0-8FD0-C802E31DDBD0}"/>
              </a:ext>
            </a:extLst>
          </p:cNvPr>
          <p:cNvSpPr>
            <a:spLocks noGrp="1"/>
          </p:cNvSpPr>
          <p:nvPr>
            <p:ph idx="1"/>
          </p:nvPr>
        </p:nvSpPr>
        <p:spPr/>
        <p:txBody>
          <a:bodyPr wrap="square" lIns="73152" rIns="73152" anchor="t">
            <a:normAutofit/>
          </a:bodyPr>
          <a:lstStyle/>
          <a:p>
            <a:pPr algn="l">
              <a:spcAft>
                <a:spcPts val="200"/>
              </a:spcAft>
              <a:defRPr sz="1500" b="1">
                <a:solidFill>
                  <a:srgbClr val="0284C7"/>
                </a:solidFill>
                <a:latin typeface="Calibri"/>
              </a:defRPr>
            </a:pPr>
            <a:r>
              <a:t>Functional Requirements (FRs):</a:t>
            </a:r>
          </a:p>
          <a:p>
            <a:pPr algn="l">
              <a:spcAft>
                <a:spcPts val="800"/>
              </a:spcAft>
              <a:defRPr sz="1250" b="0">
                <a:solidFill>
                  <a:srgbClr val="1E293B"/>
                </a:solidFill>
                <a:latin typeface="Calibri"/>
              </a:defRPr>
            </a:pPr>
            <a:r>
              <a:t>• FR1: Patient Health Vault – Secure registration, encrypted medical record upload, and record categorization.</a:t>
            </a:r>
            <a:br/>
            <a:r>
              <a:t>• FR2: Dynamic Doctor Access Delegation – Granular access granting and immediate smart contract permission revocation.</a:t>
            </a:r>
            <a:br/>
            <a:r>
              <a:t>• FR3: Practitioner Clinical Portal – Authorized patient EHR lookup, decrypted document viewer, and clinical notes issuance.</a:t>
            </a:r>
            <a:br/>
            <a:r>
              <a:t>• FR4: Hospital Governance &amp; Licensing – Verification of doctor credentials and monitoring of network telemetry.</a:t>
            </a:r>
          </a:p>
          <a:p>
            <a:pPr algn="l">
              <a:spcAft>
                <a:spcPts val="200"/>
              </a:spcAft>
              <a:defRPr sz="1500" b="1">
                <a:solidFill>
                  <a:srgbClr val="0284C7"/>
                </a:solidFill>
                <a:latin typeface="Calibri"/>
              </a:defRPr>
            </a:pPr>
            <a:r>
              <a:t>Non-Functional Requirements (NFRs):</a:t>
            </a:r>
          </a:p>
          <a:p>
            <a:pPr algn="l">
              <a:spcAft>
                <a:spcPts val="0"/>
              </a:spcAft>
              <a:defRPr sz="1250" b="0">
                <a:solidFill>
                  <a:srgbClr val="1E293B"/>
                </a:solidFill>
                <a:latin typeface="Calibri"/>
              </a:defRPr>
            </a:pPr>
            <a:r>
              <a:t>• NFR1 (Security &amp; Privacy): AES-256-GCM symmetric buffer encryption, 12-byte IVs, and JWT role-based middleware.</a:t>
            </a:r>
            <a:br/>
            <a:r>
              <a:t>• NFR2 (Performance &amp; Scalability): Sub-2.5s encryption/IPFS pinning latency; O(1) constant on-chain gas scaling.</a:t>
            </a:r>
            <a:br/>
            <a:r>
              <a:t>• NFR3 (Reliability &amp; Availability): 99.9% uptime via decentralized IPFS pinning and distributed RPC fallbacks.</a:t>
            </a:r>
            <a:br/>
            <a:r>
              <a:t>• NFR4 (Regulatory Compliance): Compliant with HIPAA Security Rule (§164.312) and GDPR Article 17 Crypto-Shredding.</a:t>
            </a:r>
          </a:p>
        </p:txBody>
      </p:sp>
      <p:sp>
        <p:nvSpPr>
          <p:cNvPr id="4" name="object 2">
            <a:extLst>
              <a:ext uri="{FF2B5EF4-FFF2-40B4-BE49-F238E27FC236}">
                <a16:creationId xmlns:a16="http://schemas.microsoft.com/office/drawing/2014/main" id="{0C9A0194-5820-F292-3A94-449C000E51A7}"/>
              </a:ext>
            </a:extLst>
          </p:cNvPr>
          <p:cNvSpPr txBox="1">
            <a:spLocks noGrp="1"/>
          </p:cNvSpPr>
          <p:nvPr>
            <p:ph type="title"/>
          </p:nvPr>
        </p:nvSpPr>
        <p:spPr>
          <a:xfrm>
            <a:off x="460248" y="681037"/>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Functional &amp; Non-Functional Requirements</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4F25267-3005-EC45-A624-B78484DFA4EC}"/>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610022FF-AD0C-E15E-5F17-B2827B5546B1}"/>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6" name="Slide Number Placeholder 5">
            <a:extLst>
              <a:ext uri="{FF2B5EF4-FFF2-40B4-BE49-F238E27FC236}">
                <a16:creationId xmlns:a16="http://schemas.microsoft.com/office/drawing/2014/main" id="{BD8D6198-8B2C-26FB-53D2-A5B87C95A4FB}"/>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9</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299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2F2ED-50F9-3DFA-95BB-1A1059C5D8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F2560-A5FE-A724-8F39-E7E901E8FADC}"/>
              </a:ext>
            </a:extLst>
          </p:cNvPr>
          <p:cNvSpPr>
            <a:spLocks noGrp="1"/>
          </p:cNvSpPr>
          <p:nvPr>
            <p:ph idx="1"/>
          </p:nvPr>
        </p:nvSpPr>
        <p:spPr/>
        <p:txBody>
          <a:bodyPr wrap="square" lIns="73152" rIns="73152" anchor="t">
            <a:normAutofit/>
          </a:bodyPr>
          <a:lstStyle/>
          <a:p>
            <a:pPr algn="l">
              <a:spcAft>
                <a:spcPts val="200"/>
              </a:spcAft>
              <a:defRPr sz="1400" b="1">
                <a:solidFill>
                  <a:srgbClr val="0284C7"/>
                </a:solidFill>
                <a:latin typeface="Calibri"/>
              </a:defRPr>
            </a:pPr>
            <a:r>
              <a:t>Module 1: Smart Contract Access Control &amp; Registry (100% Completed)</a:t>
            </a:r>
          </a:p>
          <a:p>
            <a:pPr algn="l">
              <a:spcAft>
                <a:spcPts val="600"/>
              </a:spcAft>
              <a:defRPr sz="1200" b="0">
                <a:solidFill>
                  <a:srgbClr val="1E293B"/>
                </a:solidFill>
                <a:latin typeface="Calibri"/>
              </a:defRPr>
            </a:pPr>
            <a:r>
              <a:t>• MedicalRecord.sol deployed on Hardhat local &amp; Polygon Amoy testnet. Implements access matrix, doctor verification, and audit logs.</a:t>
            </a:r>
            <a:br/>
            <a:r>
              <a:t>• 11/11 automated unit tests passing covering access rejections and permission grants.</a:t>
            </a:r>
          </a:p>
          <a:p>
            <a:pPr algn="l">
              <a:spcAft>
                <a:spcPts val="200"/>
              </a:spcAft>
              <a:defRPr sz="1400" b="1">
                <a:solidFill>
                  <a:srgbClr val="0284C7"/>
                </a:solidFill>
                <a:latin typeface="Calibri"/>
              </a:defRPr>
            </a:pPr>
            <a:r>
              <a:t>Module 2: Cryptographic Gateway &amp; IPFS Pinning Engine (100% Completed)</a:t>
            </a:r>
          </a:p>
          <a:p>
            <a:pPr algn="l">
              <a:spcAft>
                <a:spcPts val="600"/>
              </a:spcAft>
              <a:defRPr sz="1200" b="0">
                <a:solidFill>
                  <a:srgbClr val="1E293B"/>
                </a:solidFill>
                <a:latin typeface="Calibri"/>
              </a:defRPr>
            </a:pPr>
            <a:r>
              <a:t>• Symmetric AES-256-GCM encryption engine (encrypt.js) and Pinata IPFS pinning gateway (pinata.js).</a:t>
            </a:r>
            <a:br/>
            <a:r>
              <a:t>• Generates tamper-proof CIDs and cryptographic authentication tags with sub-second latency.</a:t>
            </a:r>
          </a:p>
          <a:p>
            <a:pPr algn="l">
              <a:spcAft>
                <a:spcPts val="200"/>
              </a:spcAft>
              <a:defRPr sz="1400" b="1">
                <a:solidFill>
                  <a:srgbClr val="0284C7"/>
                </a:solidFill>
                <a:latin typeface="Calibri"/>
              </a:defRPr>
            </a:pPr>
            <a:r>
              <a:t>Module 3: Role-Based User Portals &amp; UI/UX (85% Completed)</a:t>
            </a:r>
          </a:p>
          <a:p>
            <a:pPr algn="l">
              <a:spcAft>
                <a:spcPts val="600"/>
              </a:spcAft>
              <a:defRPr sz="1200" b="0">
                <a:solidFill>
                  <a:srgbClr val="1E293B"/>
                </a:solidFill>
                <a:latin typeface="Calibri"/>
              </a:defRPr>
            </a:pPr>
            <a:r>
              <a:t>• React 18, React Router v6, Tailwind CSS dashboards for Patient (Vault, Sharing), Doctor (Lookup), and Admin.</a:t>
            </a:r>
            <a:br/>
            <a:r>
              <a:t>• Integrated interactive appointment scheduler, medicine tracking, and medical history views.</a:t>
            </a:r>
          </a:p>
          <a:p>
            <a:pPr algn="l">
              <a:spcAft>
                <a:spcPts val="200"/>
              </a:spcAft>
              <a:defRPr sz="1400" b="1">
                <a:solidFill>
                  <a:srgbClr val="0284C7"/>
                </a:solidFill>
                <a:latin typeface="Calibri"/>
              </a:defRPr>
            </a:pPr>
            <a:r>
              <a:t>Module 4: Web3 Wallet Integration &amp; Telemetry (75% Completed)</a:t>
            </a:r>
          </a:p>
          <a:p>
            <a:pPr algn="l">
              <a:spcAft>
                <a:spcPts val="0"/>
              </a:spcAft>
              <a:defRPr sz="1200" b="0">
                <a:solidFill>
                  <a:srgbClr val="1E293B"/>
                </a:solidFill>
                <a:latin typeface="Calibri"/>
              </a:defRPr>
            </a:pPr>
            <a:r>
              <a:t>• MetaMask provider integration via Ethers.js v6 with simulated fallback modes for evaluation.</a:t>
            </a:r>
          </a:p>
        </p:txBody>
      </p:sp>
      <p:sp>
        <p:nvSpPr>
          <p:cNvPr id="4" name="object 2">
            <a:extLst>
              <a:ext uri="{FF2B5EF4-FFF2-40B4-BE49-F238E27FC236}">
                <a16:creationId xmlns:a16="http://schemas.microsoft.com/office/drawing/2014/main" id="{B27DA514-48FC-4BF4-8205-DE21D456C5FF}"/>
              </a:ext>
            </a:extLst>
          </p:cNvPr>
          <p:cNvSpPr txBox="1">
            <a:spLocks noGrp="1"/>
          </p:cNvSpPr>
          <p:nvPr>
            <p:ph type="title"/>
          </p:nvPr>
        </p:nvSpPr>
        <p:spPr>
          <a:xfrm>
            <a:off x="460248" y="681037"/>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Modules &amp; Implementation Progress (75% Complete)</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D74A04E0-6631-130F-A154-C85D978EA39B}"/>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9615995-EDEB-C984-B852-1229C23B1A05}"/>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6" name="Slide Number Placeholder 5">
            <a:extLst>
              <a:ext uri="{FF2B5EF4-FFF2-40B4-BE49-F238E27FC236}">
                <a16:creationId xmlns:a16="http://schemas.microsoft.com/office/drawing/2014/main" id="{067F5109-389C-3E37-E553-A559233EFD96}"/>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10</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8703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556E8-0003-02C5-D37D-A5CC4CE44D5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E386D544-A80A-B599-44C7-B40BA6ECC63C}"/>
              </a:ext>
            </a:extLst>
          </p:cNvPr>
          <p:cNvSpPr txBox="1">
            <a:spLocks noGrp="1"/>
          </p:cNvSpPr>
          <p:nvPr>
            <p:ph type="title"/>
          </p:nvPr>
        </p:nvSpPr>
        <p:spPr>
          <a:xfrm>
            <a:off x="460248" y="681037"/>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Experiments, Benchmarking &amp; Demonstration</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5D376B32-FA12-4961-0DBF-EE57A7705BF9}"/>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B0EF323-27AB-5372-4287-A24CA541146A}"/>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6" name="Slide Number Placeholder 5">
            <a:extLst>
              <a:ext uri="{FF2B5EF4-FFF2-40B4-BE49-F238E27FC236}">
                <a16:creationId xmlns:a16="http://schemas.microsoft.com/office/drawing/2014/main" id="{76AAAC16-1233-230F-5D3B-645E6B2832A4}"/>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11</a:t>
            </a:r>
            <a:endParaRPr lang="en-IN" dirty="0">
              <a:latin typeface="Times New Roman" panose="02020603050405020304" pitchFamily="18" charset="0"/>
              <a:cs typeface="Times New Roman" panose="02020603050405020304" pitchFamily="18" charset="0"/>
            </a:endParaRPr>
          </a:p>
        </p:txBody>
      </p:sp>
      <p:pic>
        <p:nvPicPr>
          <p:cNvPr id="7" name="Picture 6" descr="gas_benchmark_chart.png"/>
          <p:cNvPicPr>
            <a:picLocks noChangeAspect="1"/>
          </p:cNvPicPr>
          <p:nvPr/>
        </p:nvPicPr>
        <p:blipFill>
          <a:blip r:embed="rId2"/>
          <a:stretch>
            <a:fillRect/>
          </a:stretch>
        </p:blipFill>
        <p:spPr>
          <a:xfrm>
            <a:off x="838200" y="1825625"/>
            <a:ext cx="10515600" cy="4351338"/>
          </a:xfrm>
          <a:prstGeom prst="rect">
            <a:avLst/>
          </a:prstGeom>
        </p:spPr>
      </p:pic>
    </p:spTree>
    <p:extLst>
      <p:ext uri="{BB962C8B-B14F-4D97-AF65-F5344CB8AC3E}">
        <p14:creationId xmlns:p14="http://schemas.microsoft.com/office/powerpoint/2010/main" val="3666188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9A39-F362-DB35-B5DF-7E322AB9CAE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4F33DD-84F0-A7F9-A1DC-A4DEA1A7D846}"/>
              </a:ext>
            </a:extLst>
          </p:cNvPr>
          <p:cNvSpPr>
            <a:spLocks noGrp="1"/>
          </p:cNvSpPr>
          <p:nvPr>
            <p:ph idx="1"/>
          </p:nvPr>
        </p:nvSpPr>
        <p:spPr/>
        <p:txBody>
          <a:bodyPr wrap="square" lIns="73152" rIns="73152" anchor="t">
            <a:normAutofit/>
          </a:bodyPr>
          <a:lstStyle/>
          <a:p>
            <a:pPr algn="l">
              <a:spcAft>
                <a:spcPts val="200"/>
              </a:spcAft>
              <a:defRPr sz="1500" b="1">
                <a:solidFill>
                  <a:srgbClr val="0284C7"/>
                </a:solidFill>
                <a:latin typeface="Calibri"/>
              </a:defRPr>
            </a:pPr>
            <a:r>
              <a:t>Review-2 Milestone Summary (~75% Completed):</a:t>
            </a:r>
          </a:p>
          <a:p>
            <a:pPr algn="l">
              <a:spcAft>
                <a:spcPts val="800"/>
              </a:spcAft>
              <a:defRPr sz="1250" b="0">
                <a:solidFill>
                  <a:srgbClr val="1E293B"/>
                </a:solidFill>
                <a:latin typeface="Calibri"/>
              </a:defRPr>
            </a:pPr>
            <a:r>
              <a:t>• Successfully engineered and demonstrated a working hybrid decentralized EHR management platform.</a:t>
            </a:r>
            <a:br/>
            <a:r>
              <a:t>• Validated client-side AES-256-GCM encryption with off-chain IPFS pinning and on-chain Solidity access governance.</a:t>
            </a:r>
            <a:br/>
            <a:r>
              <a:t>• Proved zero on-chain Protected Health Information exposure and verified 100% automated test coverage (11/11 Hardhat tests).</a:t>
            </a:r>
            <a:br/>
            <a:r>
              <a:t>• Achieved sub-second cryptographic encryption and cost-effective smart contract execution.</a:t>
            </a:r>
          </a:p>
          <a:p>
            <a:pPr algn="l">
              <a:spcAft>
                <a:spcPts val="200"/>
              </a:spcAft>
              <a:defRPr sz="1500" b="1">
                <a:solidFill>
                  <a:srgbClr val="0284C7"/>
                </a:solidFill>
                <a:latin typeface="Calibri"/>
              </a:defRPr>
            </a:pPr>
            <a:r>
              <a:t>Roadmap for Final Review (October 2026):</a:t>
            </a:r>
          </a:p>
          <a:p>
            <a:pPr algn="l">
              <a:spcAft>
                <a:spcPts val="0"/>
              </a:spcAft>
              <a:defRPr sz="1250" b="0">
                <a:solidFill>
                  <a:srgbClr val="1E293B"/>
                </a:solidFill>
                <a:latin typeface="Calibri"/>
              </a:defRPr>
            </a:pPr>
            <a:r>
              <a:t>1. ERC-4337 Account Abstraction: Gasless patient onboarding using WebAuthn passkeys (TouchID / FaceID) sponsored by paymasters.</a:t>
            </a:r>
            <a:br/>
            <a:r>
              <a:t>2. Break-Glass Emergency Protocol: Time-delayed multi-signature cryptographic overrides for unconscious ER trauma cases.</a:t>
            </a:r>
            <a:br/>
            <a:r>
              <a:t>3. Zero-Knowledge Claims: zk-SNARK circuits for privacy-preserving eligibility proofs (e.g., proving age/lab values without disclosing records).</a:t>
            </a:r>
            <a:br/>
            <a:r>
              <a:t>4. Manuscript Publication: Final manuscript submission to a Scopus-indexed journal/conference venue.</a:t>
            </a:r>
          </a:p>
        </p:txBody>
      </p:sp>
      <p:sp>
        <p:nvSpPr>
          <p:cNvPr id="4" name="object 2">
            <a:extLst>
              <a:ext uri="{FF2B5EF4-FFF2-40B4-BE49-F238E27FC236}">
                <a16:creationId xmlns:a16="http://schemas.microsoft.com/office/drawing/2014/main" id="{3754A46F-4AC3-5AF1-0B78-C0B5112BD14C}"/>
              </a:ext>
            </a:extLst>
          </p:cNvPr>
          <p:cNvSpPr txBox="1">
            <a:spLocks noGrp="1"/>
          </p:cNvSpPr>
          <p:nvPr>
            <p:ph type="title"/>
          </p:nvPr>
        </p:nvSpPr>
        <p:spPr>
          <a:xfrm>
            <a:off x="460248" y="681037"/>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Conclusion &amp; Future Roadmap (Final Review)</a:t>
            </a:r>
            <a:endParaRPr sz="3000" b="1"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851BAA61-633E-E24B-7DEE-4B2A2B1FA9A4}"/>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B93C553-2D0C-5A0A-39DC-21C43BD88BF0}"/>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6" name="Slide Number Placeholder 5">
            <a:extLst>
              <a:ext uri="{FF2B5EF4-FFF2-40B4-BE49-F238E27FC236}">
                <a16:creationId xmlns:a16="http://schemas.microsoft.com/office/drawing/2014/main" id="{6BF7A7E9-45BE-62F4-D3A6-F19DC6ABEDE6}"/>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12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4987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0E1A0-FA4A-8258-6E10-9F00EDC0BC8B}"/>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CFC0C65-61CC-E657-43F7-99C8E5362448}"/>
              </a:ext>
            </a:extLst>
          </p:cNvPr>
          <p:cNvSpPr txBox="1">
            <a:spLocks noGrp="1"/>
          </p:cNvSpPr>
          <p:nvPr>
            <p:ph type="title"/>
          </p:nvPr>
        </p:nvSpPr>
        <p:spPr>
          <a:xfrm>
            <a:off x="460248" y="681037"/>
            <a:ext cx="10515600" cy="576696"/>
          </a:xfrm>
          <a:prstGeom prst="rect">
            <a:avLst/>
          </a:prstGeom>
        </p:spPr>
        <p:txBody>
          <a:bodyPr vert="horz" wrap="square" lIns="73152" rIns="73152" rtlCol="0" anchor="ctr">
            <a:spAutoFit/>
          </a:bodyPr>
          <a:lstStyle/>
          <a:p>
            <a:pPr marL="486409" algn="l">
              <a:lnSpc>
                <a:spcPct val="100000"/>
              </a:lnSpc>
              <a:spcBef>
                <a:spcPts val="130"/>
              </a:spcBef>
              <a:spcAft>
                <a:spcPts val="0"/>
              </a:spcAft>
              <a:defRPr sz="2400" b="1">
                <a:solidFill>
                  <a:srgbClr val="1F4E79"/>
                </a:solidFill>
                <a:latin typeface="Calibri"/>
              </a:defRPr>
            </a:pPr>
            <a:r>
              <a:t>References</a:t>
            </a:r>
            <a:endParaRPr sz="3000" b="1" dirty="0">
              <a:latin typeface="Times New Roman" panose="02020603050405020304" pitchFamily="18" charset="0"/>
              <a:cs typeface="Times New Roman" panose="02020603050405020304" pitchFamily="18" charset="0"/>
            </a:endParaRPr>
          </a:p>
        </p:txBody>
      </p:sp>
      <p:sp>
        <p:nvSpPr>
          <p:cNvPr id="2" name="Rectangle 3">
            <a:extLst>
              <a:ext uri="{FF2B5EF4-FFF2-40B4-BE49-F238E27FC236}">
                <a16:creationId xmlns:a16="http://schemas.microsoft.com/office/drawing/2014/main" id="{CC4F09CD-956A-B8B3-1183-9C28C80DDB9A}"/>
              </a:ext>
            </a:extLst>
          </p:cNvPr>
          <p:cNvSpPr>
            <a:spLocks noGrp="1" noChangeArrowheads="1"/>
          </p:cNvSpPr>
          <p:nvPr>
            <p:ph idx="1"/>
          </p:nvPr>
        </p:nvSpPr>
        <p:spPr bwMode="auto">
          <a:xfrm>
            <a:off x="545592" y="1442399"/>
            <a:ext cx="10515600"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73152" rIns="73152" numCol="1" anchor="t" anchorCtr="0" compatLnSpc="1">
            <a:prstTxWarp prst="textNoShape">
              <a:avLst/>
            </a:prstTxWarp>
            <a:spAutoFit/>
          </a:bodyPr>
          <a:lstStyle/>
          <a:p>
            <a:pPr marL="0" indent="0" algn="l" eaLnBrk="0" fontAlgn="base" hangingPunct="0">
              <a:lnSpc>
                <a:spcPct val="100000"/>
              </a:lnSpc>
              <a:spcBef>
                <a:spcPct val="0"/>
              </a:spcBef>
              <a:spcAft>
                <a:spcPts val="400"/>
              </a:spcAft>
              <a:buNone/>
              <a:defRPr sz="1100" b="0">
                <a:solidFill>
                  <a:srgbClr val="1E293B"/>
                </a:solidFill>
                <a:latin typeface="Calibri"/>
              </a:defRPr>
            </a:pPr>
            <a:r>
              <a:t>[1] A. Azaria, A. Ekblaw, T. Vieira, and A. Lippman, "MedRec: Using blockchain for medical data access and permission management," in Proc. IEEE 2nd Int. Conf. Open &amp; Big Data (OBD), 2016, pp. 25–30.</a:t>
            </a:r>
          </a:p>
          <a:p>
            <a:pPr algn="l">
              <a:spcAft>
                <a:spcPts val="400"/>
              </a:spcAft>
              <a:defRPr sz="1100" b="0">
                <a:solidFill>
                  <a:srgbClr val="1E293B"/>
                </a:solidFill>
                <a:latin typeface="Calibri"/>
              </a:defRPr>
            </a:pPr>
            <a:r>
              <a:t>[2] Q. Xia, E. B. Sifah, K. O. Asamoah, J. Gao, X. Du, and M. Guizani, "MeDShare: Trust-less medical data sharing among cloud service providers via blockchain," IEEE Access, vol. 5, pp. 14757–14767, 2017.</a:t>
            </a:r>
          </a:p>
          <a:p>
            <a:pPr algn="l">
              <a:spcAft>
                <a:spcPts val="400"/>
              </a:spcAft>
              <a:defRPr sz="1100" b="0">
                <a:solidFill>
                  <a:srgbClr val="1E293B"/>
                </a:solidFill>
                <a:latin typeface="Calibri"/>
              </a:defRPr>
            </a:pPr>
            <a:r>
              <a:t>[3] A. Dubovitskaya, Z. Xu, S. Ryu, M. Schumacher, and F. Wang, "Secure and trustable electronic medical records sharing using blockchain," AMIA Annu. Symp. Proc., vol. 2017, pp. 650–659, 2017.</a:t>
            </a:r>
          </a:p>
          <a:p>
            <a:pPr algn="l">
              <a:spcAft>
                <a:spcPts val="400"/>
              </a:spcAft>
              <a:defRPr sz="1100" b="0">
                <a:solidFill>
                  <a:srgbClr val="1E293B"/>
                </a:solidFill>
                <a:latin typeface="Calibri"/>
              </a:defRPr>
            </a:pPr>
            <a:r>
              <a:t>[4] U. Shahnaz, F. Javaid, and H. J. Al-Aboody, "Using blockchain for electronic health records," IEEE Access, vol. 7, pp. 147782–147795, 2019.</a:t>
            </a:r>
          </a:p>
          <a:p>
            <a:pPr algn="l">
              <a:spcAft>
                <a:spcPts val="400"/>
              </a:spcAft>
              <a:defRPr sz="1100" b="0">
                <a:solidFill>
                  <a:srgbClr val="1E293B"/>
                </a:solidFill>
                <a:latin typeface="Calibri"/>
              </a:defRPr>
            </a:pPr>
            <a:r>
              <a:t>[5] X. Yue et al., "Healthcare Data Gateways: Found Healthcare Intelligence on Blockchain with Novel Privacy Risk Control," Journal of Medical Systems, vol. 40, no. 10, art. 218, 2016.</a:t>
            </a:r>
          </a:p>
          <a:p>
            <a:pPr algn="l">
              <a:spcAft>
                <a:spcPts val="400"/>
              </a:spcAft>
              <a:defRPr sz="1100" b="0">
                <a:solidFill>
                  <a:srgbClr val="1E293B"/>
                </a:solidFill>
                <a:latin typeface="Calibri"/>
              </a:defRPr>
            </a:pPr>
            <a:r>
              <a:t>[6] J. Benet, "IPFS - Content Addressed, Versioned, P2P File System," arXiv preprint arXiv:1407.3561, 2014.</a:t>
            </a:r>
          </a:p>
          <a:p>
            <a:pPr algn="l">
              <a:spcAft>
                <a:spcPts val="0"/>
              </a:spcAft>
              <a:defRPr sz="1100" b="0">
                <a:solidFill>
                  <a:srgbClr val="1E293B"/>
                </a:solidFill>
                <a:latin typeface="Calibri"/>
              </a:defRPr>
            </a:pPr>
            <a:r>
              <a:t>[7] V. Buterin, "Ethereum white paper: A next-generation smart contract and decentralized application platform," 2014.</a:t>
            </a:r>
          </a:p>
        </p:txBody>
      </p:sp>
      <p:sp>
        <p:nvSpPr>
          <p:cNvPr id="5" name="Date Placeholder 4">
            <a:extLst>
              <a:ext uri="{FF2B5EF4-FFF2-40B4-BE49-F238E27FC236}">
                <a16:creationId xmlns:a16="http://schemas.microsoft.com/office/drawing/2014/main" id="{B732D3DB-7149-E1E5-D5F9-4FC93A788894}"/>
              </a:ext>
            </a:extLst>
          </p:cNvPr>
          <p:cNvSpPr>
            <a:spLocks noGrp="1"/>
          </p:cNvSpPr>
          <p:nvPr>
            <p:ph type="dt" sz="half" idx="10"/>
          </p:nvPr>
        </p:nvSpPr>
        <p:spPr/>
        <p:txBody>
          <a:bodyPr wrap="square" lIns="73152" rIns="73152" anchor="t"/>
          <a:lstStyle/>
          <a:p>
            <a:pPr algn="l">
              <a:spcAft>
                <a:spcPts val="0"/>
              </a:spcAft>
              <a:defRPr sz="1100" b="0">
                <a:solidFill>
                  <a:srgbClr val="64748B"/>
                </a:solidFill>
                <a:latin typeface="Calibri"/>
              </a:defRPr>
            </a:pPr>
            <a:r>
              <a:t>02-09-2026</a:t>
            </a:r>
            <a:endParaRPr lang="en-IN"/>
          </a:p>
        </p:txBody>
      </p:sp>
      <p:sp>
        <p:nvSpPr>
          <p:cNvPr id="6" name="Footer Placeholder 5">
            <a:extLst>
              <a:ext uri="{FF2B5EF4-FFF2-40B4-BE49-F238E27FC236}">
                <a16:creationId xmlns:a16="http://schemas.microsoft.com/office/drawing/2014/main" id="{CEBCABB1-7C63-52E3-2815-3651AE7E9F7B}"/>
              </a:ext>
            </a:extLst>
          </p:cNvPr>
          <p:cNvSpPr>
            <a:spLocks noGrp="1"/>
          </p:cNvSpPr>
          <p:nvPr>
            <p:ph type="ftr" sz="quarter" idx="11"/>
          </p:nvPr>
        </p:nvSpPr>
        <p:spPr/>
        <p:txBody>
          <a:bodyPr wrap="square" lIns="73152" rIns="73152" anchor="t"/>
          <a:lstStyle/>
          <a:p>
            <a:pPr algn="ctr">
              <a:spcAft>
                <a:spcPts val="0"/>
              </a:spcAft>
              <a:defRPr sz="1100" b="0">
                <a:solidFill>
                  <a:srgbClr val="64748B"/>
                </a:solidFill>
                <a:latin typeface="Calibri"/>
              </a:defRPr>
            </a:pPr>
            <a:r>
              <a:t>SCOPE</a:t>
            </a:r>
          </a:p>
        </p:txBody>
      </p:sp>
      <p:sp>
        <p:nvSpPr>
          <p:cNvPr id="7" name="Slide Number Placeholder 6">
            <a:extLst>
              <a:ext uri="{FF2B5EF4-FFF2-40B4-BE49-F238E27FC236}">
                <a16:creationId xmlns:a16="http://schemas.microsoft.com/office/drawing/2014/main" id="{E431EAEC-BCE3-2979-69C6-273309B9FFA7}"/>
              </a:ext>
            </a:extLst>
          </p:cNvPr>
          <p:cNvSpPr>
            <a:spLocks noGrp="1"/>
          </p:cNvSpPr>
          <p:nvPr>
            <p:ph type="sldNum" sz="quarter" idx="12"/>
          </p:nvPr>
        </p:nvSpPr>
        <p:spPr/>
        <p:txBody>
          <a:bodyPr wrap="square" lIns="73152" rIns="73152" anchor="t"/>
          <a:lstStyle/>
          <a:p>
            <a:pPr algn="r">
              <a:spcAft>
                <a:spcPts val="0"/>
              </a:spcAft>
              <a:defRPr sz="1100" b="0">
                <a:solidFill>
                  <a:srgbClr val="64748B"/>
                </a:solidFill>
                <a:latin typeface="Calibri"/>
              </a:defRPr>
            </a:pPr>
            <a:r>
              <a:t>13</a:t>
            </a:r>
            <a:endParaRPr lang="en-IN"/>
          </a:p>
        </p:txBody>
      </p:sp>
    </p:spTree>
    <p:extLst>
      <p:ext uri="{BB962C8B-B14F-4D97-AF65-F5344CB8AC3E}">
        <p14:creationId xmlns:p14="http://schemas.microsoft.com/office/powerpoint/2010/main" val="3510526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1561</Words>
  <Application>Microsoft Office PowerPoint</Application>
  <PresentationFormat>Widescreen</PresentationFormat>
  <Paragraphs>110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B.Tech. Computer Science and Engineering (Information Security) Course: BCSE497J – Project-I CareChain: Decentralized Electronic Health Record Management Patient-Centric Zero-Trust Healthcare Architecture using Blockchain &amp; IPFS</vt:lpstr>
      <vt:lpstr>Approval Mail From Faculty Guide</vt:lpstr>
      <vt:lpstr>Aim &amp; Scope of the Project</vt:lpstr>
      <vt:lpstr>Abstract</vt:lpstr>
      <vt:lpstr>Literature Review &amp; Benchmark Analysis</vt:lpstr>
      <vt:lpstr>Identified Research Gaps &amp; CareChain Solutions</vt:lpstr>
      <vt:lpstr>Project Objectives, UN SDGs &amp; Expected Outcomes</vt:lpstr>
      <vt:lpstr>System Architecture &amp; 4-Tier Hybrid Design</vt:lpstr>
      <vt:lpstr>Functional &amp; Non-Functional Requirements</vt:lpstr>
      <vt:lpstr>Modules &amp; Implementation Progress (75% Complete)</vt:lpstr>
      <vt:lpstr>Experiments, Benchmarking &amp; Demonstration</vt:lpstr>
      <vt:lpstr>Conclusion &amp; Future Roadmap (Final Review)</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Parthasarathy G</dc:creator>
  <cp:lastModifiedBy>Ashish Anil Sikaria</cp:lastModifiedBy>
  <cp:revision>6</cp:revision>
  <dcterms:created xsi:type="dcterms:W3CDTF">2026-07-14T06:00:41Z</dcterms:created>
  <dcterms:modified xsi:type="dcterms:W3CDTF">2026-09-01T06:47:58Z</dcterms:modified>
</cp:coreProperties>
</file>