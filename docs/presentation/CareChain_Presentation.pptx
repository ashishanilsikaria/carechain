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40080"/>
            <a:ext cx="10725912" cy="5577840"/>
          </a:xfrm>
          <a:prstGeom prst="roundRect">
            <a:avLst>
              <a:gd name="adj" fmla="val 3279"/>
            </a:avLst>
          </a:prstGeom>
          <a:solidFill>
            <a:srgbClr val="111927"/>
          </a:solidFill>
          <a:ln w="1905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96012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FALL SEMESTER 2026-27  •  BCSE497J - PROJECT - I  •  APPROVED BY GUIDE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CareChain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097280" y="2240280"/>
            <a:ext cx="9966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Decentralized, Patient-Centric Electronic Health Record (EHR) Protocol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45920" y="269748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Empowering patient data sovereignty through Ethereum Smart Contracts, AES-256 Client-Side Encryption, and Decentralized IPFS Storage.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463040" y="3520440"/>
            <a:ext cx="4389120" cy="2148840"/>
          </a:xfrm>
          <a:prstGeom prst="roundRect">
            <a:avLst>
              <a:gd name="adj" fmla="val 6383"/>
            </a:avLst>
          </a:prstGeom>
          <a:solidFill>
            <a:srgbClr val="0B132B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45920" y="37033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DETAILS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4592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45920" y="4389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No: 23BCI0218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Programme: B.Tech Computer Science &amp; Engineering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School: SCOPE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309360" y="3520440"/>
            <a:ext cx="4389120" cy="2148840"/>
          </a:xfrm>
          <a:prstGeom prst="roundRect">
            <a:avLst>
              <a:gd name="adj" fmla="val 6383"/>
            </a:avLst>
          </a:prstGeom>
          <a:solidFill>
            <a:srgbClr val="0B132B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703320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 GUIDE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9224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SELVI 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4389120"/>
            <a:ext cx="4023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Designation: Associate Professor Grade 2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ID: 16106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School: SCOPE (School of Computer Science &amp; Engineering)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FRAMEWORK • BCSE497J PROJECT PROFILE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Governance &amp; Registration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TITLE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19476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CareChain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1508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16733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CODE &amp; NAME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480560" y="19476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BCSE497J - Project - 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1508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167335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SEMESTER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194767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 Semester 2026-27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92608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0906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 &amp; OPTION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3364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 • 6 ( Months 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97680" y="292608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30906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OPTION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80560" y="3364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46720" y="292608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09067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STATUS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0" y="336499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&amp; Approved by Guide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5079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NAME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1520" y="47823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297680" y="43434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0" y="45079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NUMBER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480560" y="47823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23BCI0218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46720" y="434340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0" y="450799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 NAME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782312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SELVI M (Emp ID: 16106)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48640" y="580644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064E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897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VERIFICATION: Approved and registered under faculty supervision in SCOPE.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HEALTHCARE INDUSTRY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Crisis in Centralized Electronic Health Records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Honeypots &amp; Breaches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133M+ medical records exposed in recent years. Centralized hospital servers remain primary targets for ransomware and data theft.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3736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17373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Patient Sovereignty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4652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lack transparency on who decrypts, sells, or monetizes their diagnostic records among commercial health brokers.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77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64592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Data Silos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Incompatible EMR software causes delayed treatments, duplicate blood tests, and dangerous blind spots during emergency trauma care.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7220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7764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55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69480" y="39776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 of Tamper-Evident Audits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4652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databases lack cryptographic immutability, enabling retroactive record falsification and untraceable access logs.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ZERO-TRUST ARCHITECTURE &amp; TECHNICAL SOLUTION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CareChain Solution: Hybrid Web2/Web3 Zero-Trust Protocol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83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🔐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920240" y="18288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377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AES-256-GCM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health files and diagnostic reports are encrypted with unique 256-bit symmetric keys, 12-byte IVs, and 16-byte auth tags before leaving the browser.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50876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1783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669280" y="18288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IMMUTABILITY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2377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Decentralized IPFS Storage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0" y="301752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ciphertexts are pinned across decentralized IPFS nodes, generating immutable Content Identifiers (CIDs). Zero PHI stored on-chain.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508760"/>
            <a:ext cx="3566160" cy="3931920"/>
          </a:xfrm>
          <a:prstGeom prst="roundRect">
            <a:avLst>
              <a:gd name="adj" fmla="val 3846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78308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📜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9418320" y="18288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321040" y="2377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Contract RBAC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21040" y="3017520"/>
            <a:ext cx="30175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Solidity smart contracts enforce isolated patient access matrices (doctorPermissions[p][d]) and emit indexed events for audit trails.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082F49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8064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AE6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ALIGNMENT: Full compliance with HIPAA Security Rule (§164.312) &amp; GDPR Article 17 Crypto-Shredding.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UNITED NATIONS 2030 AGENDA ALIGNMENT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 with UN Sustainable Development Goals (SDGs)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064E3B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9164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7F3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3 • TARGET 3.8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947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Health and Well-Being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portable, tamper-proof medical records across providers and emergency care, eliminating diagnostic latency and duplicate procedures.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7C2D12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69164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DE6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9 • TARGET 9.5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46520" y="1947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Industry, Innovation &amp; Infrastructure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Modernizes vulnerable legacy health databases with resilient decentralized infrastructure combining cryptographic ledger security with IPFS.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831843"/>
          </a:solidFill>
          <a:ln w="19050">
            <a:solidFill>
              <a:srgbClr val="F43F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3192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BC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10 • TARGET 10.2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" y="418795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Inequalities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590288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Democratizes sovereign patient health data ownership regardless of socioeconomic status, preventing corporate data lock-in.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7220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E1B4B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4892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DD6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16 • TARGET 16.6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46520" y="418795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Peace, Justice &amp; Strong Institutions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46520" y="4590288"/>
            <a:ext cx="4892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Establishes immutable on-chain audit trails for doctor licensing and diagnostic issuance, mitigating healthcare malpractice fraud.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SCORECARD • NASA / HORIZON EUROPE FRAMEWORK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Readiness Level (TRL) Assessment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645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1 - 3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Principles &amp; Concept Formulation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64992" y="150876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2152" y="1645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4 - 5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02152" y="19202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Validation &amp; Component Testing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50876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4C1D95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8504" y="1645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TRL 6 ★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18504" y="19202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D6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Demonstrated in Relevant Environment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97696" y="150876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111927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4856" y="16459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7 - 9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134856" y="1920240"/>
            <a:ext cx="2423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Trials &amp; Commercial Mainnet Deployment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2697480"/>
            <a:ext cx="5440680" cy="3566160"/>
          </a:xfrm>
          <a:prstGeom prst="roundRect">
            <a:avLst>
              <a:gd name="adj" fmla="val 3846"/>
            </a:avLst>
          </a:prstGeom>
          <a:solidFill>
            <a:srgbClr val="1119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TRL 6 VERIFIED DELIVERABLES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3246120"/>
            <a:ext cx="4892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Smart Contracts: MedicalRecord.sol deployed with 100% automated test coverage (11/11 Hardhat unit tests green).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Pipeline: Client-side AES-256-GCM symmetric buffer encryption and IPFS pinning via Pinata live.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Role-Based Portals: Web3 frontend with dedicated portals for Patients, Licensed Doctors, and Hospital Governance.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Enterprise Architecture: Monorepo with CI/CD automation, Docker orchestration, and RBAC middleware.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199632" y="2697480"/>
            <a:ext cx="5440680" cy="3566160"/>
          </a:xfrm>
          <a:prstGeom prst="roundRect">
            <a:avLst>
              <a:gd name="adj" fmla="val 3846"/>
            </a:avLst>
          </a:prstGeom>
          <a:solidFill>
            <a:srgbClr val="111927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2880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 ROADMAP TO TRL 9 (COMMERCIAL DEPLOYMENT)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73952" y="3246120"/>
            <a:ext cx="48920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TRL 7 (Operational Sandbox): Multi-hospital sandbox testing with HL7 FHIR structured schemas and ERC-4337 Passkey relayers.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TRL 8 (System Qualification): Formal smart contract verification by CertiK/OpenZeppelin and HIPAA/GDPR certification.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TRL 9 (Full Clinical Deployment): Production mainnet rollout across participating hospital consortiums and insurance validation nodes.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DIFFERENTIATORS &amp; HARD TECH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Protocol Innovations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'Break-Glass' Emergency Override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Solves the unconscious ER patient dilemma: Verified physicians trigger time-delayed cryptographic challenges or multi-guardian signatures with on-chain audit penalties.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7220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3736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🛡️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086600" y="17373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Zero-Knowledge (ZK) Health Claims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4652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zk-SNARK circuits allow patients to prove clinical trial or insurance eligibility (e.g., HbA1c &lt; 6.5%, age &gt; 18) without disclosing raw medical files or identity.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77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463040" y="3977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Gasless Account Abstraction (ERC-4337)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seed phrases and gas tokens with WebAuthn Passkeys (TouchID / FaceID), sponsored by hospital Paymaster relayers.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7220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77640"/>
            <a:ext cx="73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🎖️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086600" y="397764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Soulbound Tokens (SBTs - ERC-5192)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4652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Non-transferable medical credentials minted by state medical boards. If a license is suspended, on-chain decryption permissions are instantly revoked.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VALUE PROPOSITION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Multi-Sided Healthcare Economic Impact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2697480" cy="4389120"/>
          </a:xfrm>
          <a:prstGeom prst="roundRect">
            <a:avLst>
              <a:gd name="adj" fmla="val 5085"/>
            </a:avLst>
          </a:prstGeom>
          <a:solidFill>
            <a:srgbClr val="111927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🧑‍💼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15468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data sovereignty, zero corporate exploitation, seamless portability across facilities.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64992" y="1508760"/>
            <a:ext cx="2697480" cy="4389120"/>
          </a:xfrm>
          <a:prstGeom prst="roundRect">
            <a:avLst>
              <a:gd name="adj" fmla="val 5085"/>
            </a:avLst>
          </a:prstGeom>
          <a:solidFill>
            <a:srgbClr val="111927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7872" y="18745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👨‍⚕️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3547872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47872" y="315468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verified medical histories, zero diagnostic redundancy, reduced malpractice liability.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1344" y="1508760"/>
            <a:ext cx="2697480" cy="4389120"/>
          </a:xfrm>
          <a:prstGeom prst="roundRect">
            <a:avLst>
              <a:gd name="adj" fmla="val 5085"/>
            </a:avLst>
          </a:prstGeom>
          <a:solidFill>
            <a:srgbClr val="111927"/>
          </a:solidFill>
          <a:ln w="1905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8745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🔬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364224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Researchers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64224" y="315468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Opt-in Compute-to-Data research pools with automated cryptographic patient micro-rewards.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997696" y="1508760"/>
            <a:ext cx="2697480" cy="4389120"/>
          </a:xfrm>
          <a:prstGeom prst="roundRect">
            <a:avLst>
              <a:gd name="adj" fmla="val 5085"/>
            </a:avLst>
          </a:prstGeom>
          <a:solidFill>
            <a:srgbClr val="111927"/>
          </a:solidFill>
          <a:ln w="1905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0576" y="1874520"/>
            <a:ext cx="2331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🏛️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9180576" y="2606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0576" y="3154680"/>
            <a:ext cx="2331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Tamper-proof smart contract claims verification, eliminating fraudulent billing and overhead.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1091672" cy="1828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38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DEMONSTRATION &amp; DELIVERABLES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Ashish Anil Sikaria (23BCI0218) • Guide: Prof. SELVI M • SCOPE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Demonstration &amp; Live Modules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7373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Health Vault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AES-256 client file encryption, IPFS pinning, and doctor access control toggle.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50876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73736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Practitioner Portal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Authorized patient EHR lookup, verified clinical diagnostic reports, and digital prescriptions.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97764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 Governance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Practitioner license verification, smart contract telemetry, and HIPAA audit trail exports.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3749040"/>
            <a:ext cx="5440680" cy="2057400"/>
          </a:xfrm>
          <a:prstGeom prst="roundRect">
            <a:avLst>
              <a:gd name="adj" fmla="val 6667"/>
            </a:avLst>
          </a:prstGeom>
          <a:solidFill>
            <a:srgbClr val="111927"/>
          </a:solidFill>
          <a:ln w="1524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3977640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Wallet Layer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4434840"/>
            <a:ext cx="4892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MetaMask provider integration alongside off-chain fallback simulation modes.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9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640080"/>
            <a:ext cx="10725912" cy="5577840"/>
          </a:xfrm>
          <a:prstGeom prst="roundRect">
            <a:avLst>
              <a:gd name="adj" fmla="val 3279"/>
            </a:avLst>
          </a:prstGeom>
          <a:solidFill>
            <a:srgbClr val="111927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 &amp; ACADEMIC DEFENSE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097280" y="13258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CareChain: Redefining Sovereign Healthcare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645920" y="2148840"/>
            <a:ext cx="8869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CareChain provides a verified, production-grade protocol for patient-governed electronic health records. Validated with automated test suites, zero-trust cryptographic security, and clear UN SDG &amp; TRL progression roadmaps.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828800" y="3063240"/>
            <a:ext cx="8531352" cy="2651760"/>
          </a:xfrm>
          <a:prstGeom prst="roundRect">
            <a:avLst>
              <a:gd name="adj" fmla="val 5172"/>
            </a:avLst>
          </a:prstGeom>
          <a:solidFill>
            <a:srgbClr val="0B132B"/>
          </a:solidFill>
          <a:ln w="15240">
            <a:solidFill>
              <a:srgbClr val="1E293B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03120" y="3337560"/>
          <a:ext cx="7982712" cy="210312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  <a:gridCol w="1463040"/>
                <a:gridCol w="2313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Candidate: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Ashish Anil Sikaria (23BCI0218)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Course: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BCSE497J - Project - I (Fall 2026-27)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Faculty Guide: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55F7"/>
                          </a:solidFill>
                        </a:rPr>
                        <a:t>Prof. SELVI M (Emp ID: 16106)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School: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SCOPE (School of Computer Science &amp; Eng.)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TRL Level: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</a:rPr>
                        <a:t>TRL 6 (Demonstrated Prototype)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94A3B8"/>
                          </a:solidFill>
                        </a:rPr>
                        <a:t>SDG Targets: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UN SDGs 3.8, 9.5, 10.2, 16.6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SCOPE - Computer Science & Engineering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CareChain - BCSE497J Project I Presentation</dc:title>
  <dc:subject>Decentralized Electronic Health Record Protocol</dc:subject>
  <dc:creator>Ashish Anil Sikaria</dc:creator>
  <cp:lastModifiedBy>Ashish Anil Sikaria</cp:lastModifiedBy>
  <cp:revision>1</cp:revision>
  <dcterms:created xsi:type="dcterms:W3CDTF">2026-08-28T09:16:53Z</dcterms:created>
  <dcterms:modified xsi:type="dcterms:W3CDTF">2026-08-28T09:16:53Z</dcterms:modified>
</cp:coreProperties>
</file>