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57200"/>
            <a:ext cx="10972800" cy="585216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346704" y="685800"/>
            <a:ext cx="5486400" cy="320040"/>
          </a:xfrm>
          <a:prstGeom prst="roundRect">
            <a:avLst>
              <a:gd name="adj" fmla="val 22857"/>
            </a:avLst>
          </a:prstGeom>
          <a:solidFill>
            <a:srgbClr val="F0F9FF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46704" y="7132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  •  BCSE497J - PROJECT - 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60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CareChain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1874520"/>
            <a:ext cx="103601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Decentralized, Patient-Centric Electronic Health Record (EHR) Protocol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240280"/>
            <a:ext cx="9445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Empowering patient data ownership through Ethereum Smart Contracts, AES-256 Client-Side Encryption, and Decentralized IPFS Storage.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280160" y="2834640"/>
            <a:ext cx="4572000" cy="2651760"/>
          </a:xfrm>
          <a:prstGeom prst="roundRect">
            <a:avLst>
              <a:gd name="adj" fmla="val 3448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08760" y="301752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08760" y="32461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657600"/>
            <a:ext cx="4114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No: 23BCI0218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Programme: B.Tech Computer Science &amp; Engineering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School: SCOPE (School of Computer Science &amp; Engineering)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36792" y="2834640"/>
            <a:ext cx="4572000" cy="2651760"/>
          </a:xfrm>
          <a:prstGeom prst="roundRect">
            <a:avLst>
              <a:gd name="adj" fmla="val 3448"/>
            </a:avLst>
          </a:prstGeom>
          <a:solidFill>
            <a:srgbClr val="EEF2FF"/>
          </a:solidFill>
          <a:ln w="1524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65392" y="301752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5392" y="32461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SELVI 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65392" y="3657600"/>
            <a:ext cx="4114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Designation: Associate Professor Grade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ID: 16106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School: SCOPE (School of Computer Science &amp; Engineering)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Registered &amp; Approved by Guide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FRAMEWORK • BCSE497J PROJECT PROFILE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Registration &amp; Governance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3504" y="123444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F0F9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13716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86384" y="161848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CareChain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52544" y="123444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35424" y="13716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CODE &amp; NAME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35424" y="161848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- Project - 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01584" y="123444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84464" y="13716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SEMESTER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84464" y="161848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3504" y="260604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F0F9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27432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OPTION / DURATION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6384" y="299008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• 6 ( Months 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52544" y="260604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35424" y="27432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OPTION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35424" y="299008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01584" y="260604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ECFDF5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84464" y="27432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STATUS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84464" y="299008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by Guide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03504" y="397764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41148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86384" y="436168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52544" y="397764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F0F9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35424" y="41148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NUMBER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35424" y="436168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23BCI0218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101584" y="397764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EEF2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84464" y="41148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84464" y="436168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SELVI M (Emp ID: 16106)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03504" y="54406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532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Project registered and approved by faculty guide in SCOPE.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INDUSTRY PROBLEM STATEMENT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Crisis of Centralized Electronic Health Records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3504" y="1234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141732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141732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Honeypots &amp; Breaches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2104" y="182880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133M+ medical records breached in 2023–2025 alone. Centralized hospital databases remain high-value targets for ransomware attacks and unauthorized extraction.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27064" y="1234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FFBEB"/>
          </a:solidFill>
          <a:ln w="15240">
            <a:solidFill>
              <a:srgbClr val="FDE6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5664" y="141732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095744" y="141732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Patient Sovereignty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55664" y="182880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have no direct ownership or visibility into who accesses, shares, or commercializes their sensitive diagnostic records among insurance brokers.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" y="356616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" y="374904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72184" y="37490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Data Silos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" y="416052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Incompatible hospital software systems create life-threatening information blind spots during emergency trauma care, resulting in delayed treatments and duplicate testing.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27064" y="356616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EF2FF"/>
          </a:solidFill>
          <a:ln w="15240">
            <a:solidFill>
              <a:srgbClr val="DDD6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55664" y="374904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95744" y="37490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Tamper-Evident Audits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55664" y="416052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systems lack cryptographic non-repudiation, permitting unauthorized retrospective alterations of diagnostic records and untraceable access logs.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ARCHITECTURE &amp; TECHNICAL SOLUTION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CareChain Solution: Hybrid Web2/Web3 Protocol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3504" y="1234440"/>
            <a:ext cx="3474720" cy="3931920"/>
          </a:xfrm>
          <a:prstGeom prst="roundRect">
            <a:avLst>
              <a:gd name="adj" fmla="val 263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1463040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LAYER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32104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AES-256-GCM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2104" y="233172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health files and diagnostic reports are encrypted with unique 256-bit symmetric keys, 12-byte IVs, and 16-byte authentication tags before transmission.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52544" y="1234440"/>
            <a:ext cx="3474720" cy="3931920"/>
          </a:xfrm>
          <a:prstGeom prst="roundRect">
            <a:avLst>
              <a:gd name="adj" fmla="val 2632"/>
            </a:avLst>
          </a:prstGeom>
          <a:solidFill>
            <a:srgbClr val="EEF2FF"/>
          </a:solidFill>
          <a:ln w="15240">
            <a:solidFill>
              <a:srgbClr val="DDD6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81144" y="1463040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STORAGE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81144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IPFS Distributed Pinning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81144" y="233172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ciphertexts are pinned across decentralized IPFS nodes, generating immutable Content Identifiers (CIDs). Zero Protected Health Information (PHI) is stored on-chain.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01584" y="1234440"/>
            <a:ext cx="3474720" cy="3931920"/>
          </a:xfrm>
          <a:prstGeom prst="roundRect">
            <a:avLst>
              <a:gd name="adj" fmla="val 2632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30184" y="1463040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330184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Contract RBAC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30184" y="233172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Solidity smart contracts enforce isolated patient access matrices (doctorPermissions[p][d]) and emit indexed events for verifiable on-chain audit trails.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3504" y="5394960"/>
            <a:ext cx="10972800" cy="548640"/>
          </a:xfrm>
          <a:prstGeom prst="roundRect">
            <a:avLst>
              <a:gd name="adj" fmla="val 1333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50468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COMPLIANCE: HIPAA Security Rule (§164.312) &amp; GDPR Article 17 Crypto-Shredding Compliant.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NATIONS 2030 AGENDA ALIGNMENT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UN Sustainable Development Goals (SDGs)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3504" y="1234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1399032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3  •  TARGET 3.8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32104" y="164592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Health and Well-Being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2104" y="2011680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portable, tamper-proof medical records across hospital networks and cross-border consultations, reducing diagnostic errors and duplicate procedures.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27064" y="1234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FFBEB"/>
          </a:solidFill>
          <a:ln w="15240">
            <a:solidFill>
              <a:srgbClr val="FDE6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5664" y="1399032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9  •  TARGET 9.5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55664" y="164592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Industry, Innovation &amp; Infrastructure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55664" y="2011680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Modernizes vulnerable legacy healthcare databases into resilient decentralized infrastructure combining cryptographic ledger security with IPFS.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" y="356616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" y="3730752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10  •  TARGET 10.2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32104" y="397764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Inequalities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" y="4343400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Democratizes patient ownership over health records regardless of socioeconomic status, preventing commercial healthcare monopolies and data lock-in.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27064" y="356616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EF2FF"/>
          </a:solidFill>
          <a:ln w="15240">
            <a:solidFill>
              <a:srgbClr val="DDD6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55664" y="3730752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16  •  TARGET 16.6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55664" y="397764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Peace, Justice &amp; Strong Institutions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55664" y="4343400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Establishes transparent, immutable on-chain audit trails for clinician licensing and diagnostic issuance, preventing healthcare malpractice fraud.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 SCORECARD • NASA / HORIZON EUROPE FRAMEWORK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Readiness Level (TRL) Assessment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3504" y="123444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" y="134416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1 - 3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4944" y="161848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Formulation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19856" y="123444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11296" y="134416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4 - 5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11296" y="161848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Validation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36208" y="123444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0F9FF"/>
          </a:solidFill>
          <a:ln w="25400">
            <a:solidFill>
              <a:srgbClr val="0284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7648" y="134416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TRL 6 VERIFIED ★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27648" y="161848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Prototype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2560" y="123444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0" y="134416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7 - 9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0" y="161848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Deployment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3504" y="2240280"/>
            <a:ext cx="5349240" cy="3794760"/>
          </a:xfrm>
          <a:prstGeom prst="roundRect">
            <a:avLst>
              <a:gd name="adj" fmla="val 2410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2423160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TRL 6 VERIFIED DELIVERABLES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27432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Smart Contracts: MedicalRecord.sol deployed with 100% automated test coverage (11/11 Hardhat unit tests passing).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Cryptographic Gateway: Client-side AES-256-GCM symmetric buffer encryption and IPFS pinning via Pinata live.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Role-Based Portals: Web3 frontend with dedicated portals for Patients, Licensed Doctors, and Hospital Governance.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Enterprise Architecture: Monorepo with CI/CD automation, Docker orchestration, and RBAC middleware.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27064" y="2240280"/>
            <a:ext cx="5349240" cy="3794760"/>
          </a:xfrm>
          <a:prstGeom prst="roundRect">
            <a:avLst>
              <a:gd name="adj" fmla="val 2410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423160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➔ ROADMAP TO TRL 9 (COMMERCIAL DEPLOYMENT)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46520" y="27432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TRL 7 (Operational Sandbox): Multi-hospital sandbox testing with HL7 FHIR structured schemas and ERC-4337 Passkey relayers.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TRL 8 (System Qualification): Formal smart contract verification by CertiK/OpenZeppelin and HIPAA/GDPR certification.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TRL 9 (Full Clinical Deployment): Production mainnet rollout across participating hospital consortiums and insurance validation nodes.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DIFFERENTIATORS &amp; HARD TECH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Next-Generation Protocol Innovations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3504" y="1234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141732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Break-Glass Emergency Protocol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32104" y="182880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 the unconscious ER patient dilemma: Verified physicians trigger time-delayed cryptographic challenges or multi-guardian signatures backed by on-chain audit penalties.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27064" y="1234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EF2FF"/>
          </a:solidFill>
          <a:ln w="15240">
            <a:solidFill>
              <a:srgbClr val="DDD6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141732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Zero-Knowledge (ZK) Health Claims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55664" y="182880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zk-SNARK circuits allow patients to prove clinical trial or insurance eligibility (e.g. HbA1c &lt; 6.5%, age &gt; 18) without disclosing raw medical files or identity.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" y="356616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" y="374904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Gasless Account Abstraction (ERC-4337)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2104" y="416052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seed phrases and gas tokens with WebAuthn Passkeys (TouchID / FaceID), sponsored by hospital Paymaster relayers.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27064" y="356616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55664" y="374904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Soulbound Tokens (SBTs - ERC-5192)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55664" y="416052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Non-transferable medical credentials minted by state medical boards. If a license is suspended, on-chain decryption permissions are instantly revoked.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VALUE PROPOSITION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Multi-Sided Healthcare Economic Impact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3504" y="1234440"/>
            <a:ext cx="2606040" cy="4754880"/>
          </a:xfrm>
          <a:prstGeom prst="roundRect">
            <a:avLst>
              <a:gd name="adj" fmla="val 3509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0664" y="15544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0664" y="2103120"/>
            <a:ext cx="2331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data sovereignty, zero commercial exploitation, and seamless portable access across medical facilities.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19856" y="1234440"/>
            <a:ext cx="2606040" cy="4754880"/>
          </a:xfrm>
          <a:prstGeom prst="roundRect">
            <a:avLst>
              <a:gd name="adj" fmla="val 3509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57016" y="15544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557016" y="2103120"/>
            <a:ext cx="2331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verified medical histories, zero diagnostic redundancy, and reduced malpractice liability.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36208" y="1234440"/>
            <a:ext cx="2606040" cy="4754880"/>
          </a:xfrm>
          <a:prstGeom prst="roundRect">
            <a:avLst>
              <a:gd name="adj" fmla="val 3509"/>
            </a:avLst>
          </a:prstGeom>
          <a:solidFill>
            <a:srgbClr val="EEF2FF"/>
          </a:solidFill>
          <a:ln w="15240">
            <a:solidFill>
              <a:srgbClr val="DDD6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3368" y="15544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73368" y="2103120"/>
            <a:ext cx="2331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Compute-to-Data research pools with automated cryptographic patient micro-rewards.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52560" y="1234440"/>
            <a:ext cx="2606040" cy="4754880"/>
          </a:xfrm>
          <a:prstGeom prst="roundRect">
            <a:avLst>
              <a:gd name="adj" fmla="val 3509"/>
            </a:avLst>
          </a:prstGeom>
          <a:solidFill>
            <a:srgbClr val="FFFBEB"/>
          </a:solidFill>
          <a:ln w="15240">
            <a:solidFill>
              <a:srgbClr val="FDE6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15544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Insurers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189720" y="2103120"/>
            <a:ext cx="2331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smart contract claims verification, eliminating fraudulent billing and overhead.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&amp; DELIVERABLES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 • Faculty Guide: Prof. SELVI M • SCOPE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Semester 2026-27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Demonstration &amp; System Modules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3504" y="1234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141732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Health Vault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32104" y="182880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AES-256 file encryption, IPFS pinning via Pinata, and toggleable doctor access control matrix.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27064" y="1234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141732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Portal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55664" y="182880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patient EHR lookup, verified clinical diagnostic report uploads, and digital prescription issuance.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" y="356616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EF2FF"/>
          </a:solidFill>
          <a:ln w="15240">
            <a:solidFill>
              <a:srgbClr val="DDD6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" y="374904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Governance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2104" y="416052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license verification, smart contract telemetry, and HIPAA audit trail log exports.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27064" y="356616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FFFBEB"/>
          </a:solidFill>
          <a:ln w="15240">
            <a:solidFill>
              <a:srgbClr val="FDE6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55664" y="374904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Web3 Wallet Layer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55664" y="416052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MetaMask provider integration alongside off-chain fallback simulation modes.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57200"/>
            <a:ext cx="10972800" cy="585216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731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ACADEMIC DEFENSE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14400" y="1051560"/>
            <a:ext cx="10360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CareChain: Redefining Sovereign Healthcare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71600" y="1691640"/>
            <a:ext cx="94457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CareChain delivers a verified, production-grade protocol for patient-governed electronic health records. Validated with 100% automated test coverage, zero-trust cryptographic security, and mapped against UN SDGs and TRL progression.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097280" y="2468880"/>
            <a:ext cx="9994392" cy="3474720"/>
          </a:xfrm>
          <a:prstGeom prst="roundRect">
            <a:avLst>
              <a:gd name="adj" fmla="val 263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2743200"/>
            <a:ext cx="4572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85292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554480" y="309067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Anil Sikaria (23BCI0218)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4572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285292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&amp; SEMESTER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0" y="309067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(Project - I) • Fall 2026-27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371600" y="3749040"/>
            <a:ext cx="4572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54480" y="385876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GUIDE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554480" y="409651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SELVI M (Emp ID: 16106)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749040"/>
            <a:ext cx="4572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85876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0" y="409651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(Computer Science &amp; Engineering)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371600" y="4754880"/>
            <a:ext cx="4572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54480" y="486460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LEVEL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554480" y="510235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6 (Demonstrated Prototype)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4754880"/>
            <a:ext cx="4572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86460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SDG ALIGNMENT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400800" y="510235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SDGs 3.8, 9.5, 10.2, 16.6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10</Slides>
	<Notes>10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10</vt:i4></vt:variant>
		</vt:vector>
	</HeadingPairs>
	<TitlesOfParts>
		<vt:vector size="13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
		</vt:vector>
	</TitlesOfParts>
	<Company>SCOPE - School of Computer Science & Engineering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CareChain - BCSE497J Project I Presentation</dc:title>
  <dc:subject>Decentralized Electronic Health Record Protocol</dc:subject>
  <dc:creator>Ashish Anil Sikaria</dc:creator>
  <cp:lastModifiedBy>Ashish Anil Sikaria</cp:lastModifiedBy>
  <cp:revision>1</cp:revision>
  <dcterms:created xsi:type="dcterms:W3CDTF">2026-08-28T09:22:00Z</dcterms:created>
  <dcterms:modified xsi:type="dcterms:W3CDTF">2026-08-28T09:22:00Z</dcterms:modified>
</cp:coreProperties>
</file>