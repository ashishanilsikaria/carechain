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94360"/>
            <a:ext cx="10725912" cy="5669280"/>
          </a:xfrm>
          <a:prstGeom prst="roundRect">
            <a:avLst>
              <a:gd name="adj" fmla="val 2419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0" y="868680"/>
            <a:ext cx="5788152" cy="347472"/>
          </a:xfrm>
          <a:prstGeom prst="roundRect">
            <a:avLst>
              <a:gd name="adj" fmla="val 26316"/>
            </a:avLst>
          </a:prstGeom>
          <a:solidFill>
            <a:srgbClr val="F0F9FF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0" y="896112"/>
            <a:ext cx="57881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 SEMESTER 2026-27  •  BCSE497J - PROJECT - I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97280" y="1325880"/>
            <a:ext cx="999439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CareChain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1097280" y="2176272"/>
            <a:ext cx="99943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Decentralized, Patient-Centric Electronic Health Record (EHR) Protocol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45920" y="2606040"/>
            <a:ext cx="88971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Empowering patient data ownership through Ethereum Smart Contracts, AES-256 Client-Side Encryption, and Decentralized IPFS Storage.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371600" y="3337560"/>
            <a:ext cx="4480560" cy="2468880"/>
          </a:xfrm>
          <a:prstGeom prst="roundRect">
            <a:avLst>
              <a:gd name="adj" fmla="val 4444"/>
            </a:avLst>
          </a:prstGeom>
          <a:solidFill>
            <a:srgbClr val="F0F9FF"/>
          </a:solidFill>
          <a:ln w="15240">
            <a:solidFill>
              <a:srgbClr val="BAE6F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600200" y="3520440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 BY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600200" y="3767328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Ashish Anil Sikaria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00200" y="4187952"/>
            <a:ext cx="402336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No: 23BCI0218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Programme: B.Tech Computer Science &amp; Engineering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School: SCOPE (School of Computer Science &amp; Engineering)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336792" y="3337560"/>
            <a:ext cx="4480560" cy="2468880"/>
          </a:xfrm>
          <a:prstGeom prst="roundRect">
            <a:avLst>
              <a:gd name="adj" fmla="val 4444"/>
            </a:avLst>
          </a:prstGeom>
          <a:solidFill>
            <a:srgbClr val="EEF2FF"/>
          </a:solidFill>
          <a:ln w="15240">
            <a:solidFill>
              <a:srgbClr val="C7D2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65392" y="3520440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GUIDANCE OF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565392" y="3767328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SELVI M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565392" y="4187952"/>
            <a:ext cx="402336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Designation: Associate Professor Grade 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ID: 16106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School: SCOPE (School of Computer Science &amp; Engineering)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Registered &amp; Approved by Guide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11091672" cy="27432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FRAMEWORK • BCSE497J PROJECT PROFILE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685800"/>
            <a:ext cx="1109167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6355080"/>
            <a:ext cx="1109167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Ashish Anil Sikaria (23BCI0218) • Faculty Guide: Prof. SELVI M • SCOPE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686800" y="6419088"/>
            <a:ext cx="2953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 Semester 2026-27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Registration &amp; Governance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48640" y="1371600"/>
            <a:ext cx="3566160" cy="1280160"/>
          </a:xfrm>
          <a:prstGeom prst="roundRect">
            <a:avLst>
              <a:gd name="adj" fmla="val 7143"/>
            </a:avLst>
          </a:prstGeom>
          <a:solidFill>
            <a:srgbClr val="F0F9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15544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TITLE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77240" y="182880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CareChain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297680" y="1371600"/>
            <a:ext cx="356616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6280" y="15544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CODE &amp; NAME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526280" y="182880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BCSE497J - Project - I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046720" y="1371600"/>
            <a:ext cx="356616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75320" y="15544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SEMESTER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275320" y="182880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 Semester 2026-27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48640" y="2834640"/>
            <a:ext cx="3566160" cy="1280160"/>
          </a:xfrm>
          <a:prstGeom prst="roundRect">
            <a:avLst>
              <a:gd name="adj" fmla="val 7143"/>
            </a:avLst>
          </a:prstGeom>
          <a:solidFill>
            <a:srgbClr val="F0F9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0175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OPTION / DURATION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77240" y="329184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• 6 ( Months )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4297680" y="2834640"/>
            <a:ext cx="356616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26280" y="30175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OPTION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26280" y="329184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8046720" y="2834640"/>
            <a:ext cx="3566160" cy="1280160"/>
          </a:xfrm>
          <a:prstGeom prst="roundRect">
            <a:avLst>
              <a:gd name="adj" fmla="val 7143"/>
            </a:avLst>
          </a:prstGeom>
          <a:solidFill>
            <a:srgbClr val="ECFDF5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75320" y="30175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STATUS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275320" y="329184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by Guide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548640" y="4297680"/>
            <a:ext cx="356616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7240" y="448056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NAME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77240" y="475488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Ashish Anil Sikaria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4297680" y="4297680"/>
            <a:ext cx="3566160" cy="1280160"/>
          </a:xfrm>
          <a:prstGeom prst="roundRect">
            <a:avLst>
              <a:gd name="adj" fmla="val 7143"/>
            </a:avLst>
          </a:prstGeom>
          <a:solidFill>
            <a:srgbClr val="F0F9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26280" y="448056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NUMBER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526280" y="475488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23BCI0218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8046720" y="4297680"/>
            <a:ext cx="3566160" cy="1280160"/>
          </a:xfrm>
          <a:prstGeom prst="roundRect">
            <a:avLst>
              <a:gd name="adj" fmla="val 7143"/>
            </a:avLst>
          </a:prstGeom>
          <a:solidFill>
            <a:srgbClr val="EEF2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75320" y="448056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GUIDE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8275320" y="475488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SELVI M (Emp ID: 16106)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548640" y="5715000"/>
            <a:ext cx="11091672" cy="502920"/>
          </a:xfrm>
          <a:prstGeom prst="roundRect">
            <a:avLst>
              <a:gd name="adj" fmla="val 14545"/>
            </a:avLst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58064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Project registered and approved by faculty guide in SCOPE.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11091672" cy="27432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INDUSTRY PROBLEM STATEMENT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685800"/>
            <a:ext cx="1109167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6355080"/>
            <a:ext cx="1109167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Ashish Anil Sikaria (23BCI0218) • Faculty Guide: Prof. SELVI M • SCOPE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686800" y="6419088"/>
            <a:ext cx="2953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 Semester 2026-27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Crisis of Centralized Electronic Health Records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48640" y="137160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FFF1F2"/>
          </a:solidFill>
          <a:ln w="15240">
            <a:solidFill>
              <a:srgbClr val="FECD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1572768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1572768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Honeypots &amp; Breaches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22960" y="2011680"/>
            <a:ext cx="48920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133M+ medical records breached in 2023–2025 alone. Centralized hospital databases remain high-value targets for ransomware attacks and unauthorized extraction.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72200" y="137160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FFFBEB"/>
          </a:solidFill>
          <a:ln w="15240">
            <a:solidFill>
              <a:srgbClr val="FDE68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1572768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086600" y="1572768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Patient Sovereignty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46520" y="2011680"/>
            <a:ext cx="48920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have no direct ownership or visibility into who accesses, shares, or commercializes their sensitive diagnostic records among insurance brokers.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365760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F0F9FF"/>
          </a:solidFill>
          <a:ln w="15240">
            <a:solidFill>
              <a:srgbClr val="BAE6F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3858768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63040" y="3858768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 Data Silos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2960" y="4297680"/>
            <a:ext cx="48920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Incompatible hospital software systems create life-threatening information blind spots during emergency trauma care, resulting in delayed treatments and duplicate testing.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172200" y="365760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EEF2FF"/>
          </a:solidFill>
          <a:ln w="15240">
            <a:solidFill>
              <a:srgbClr val="DDD6F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46520" y="3858768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086600" y="3858768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Lack of Tamper-Evident Audits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46520" y="4297680"/>
            <a:ext cx="48920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systems lack cryptographic non-repudiation, permitting unauthorized retrospective alterations of diagnostic records and untraceable access logs.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11091672" cy="27432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ZERO-TRUST ARCHITECTURE &amp; TECHNICAL SOLUTION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685800"/>
            <a:ext cx="1109167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6355080"/>
            <a:ext cx="1109167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Ashish Anil Sikaria (23BCI0218) • Faculty Guide: Prof. SELVI M • SCOPE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686800" y="6419088"/>
            <a:ext cx="2953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 Semester 2026-27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CareChain Solution: Hybrid Web2/Web3 Protocol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48640" y="1371600"/>
            <a:ext cx="3566160" cy="4023360"/>
          </a:xfrm>
          <a:prstGeom prst="roundRect">
            <a:avLst>
              <a:gd name="adj" fmla="val 3077"/>
            </a:avLst>
          </a:prstGeom>
          <a:solidFill>
            <a:srgbClr val="F0F9FF"/>
          </a:solidFill>
          <a:ln w="15240">
            <a:solidFill>
              <a:srgbClr val="BAE6F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1645920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 LAYER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22960" y="196596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AES-256-GCM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22960" y="2651760"/>
            <a:ext cx="30175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health files and diagnostic reports are encrypted with unique 256-bit symmetric keys, 12-byte IVs, and 16-byte authentication tags before transmission.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297680" y="1371600"/>
            <a:ext cx="3566160" cy="40233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15240">
            <a:solidFill>
              <a:srgbClr val="DDD6F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0" y="1645920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DECENTRALIZED STORAGE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572000" y="196596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IPFS Distributed Pinning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572000" y="2651760"/>
            <a:ext cx="30175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 ciphertexts are pinned across decentralized IPFS nodes, generating immutable Content Identifiers (CIDs). Zero Protected Health Information (PHI) is stored on-chain.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046720" y="1371600"/>
            <a:ext cx="3566160" cy="4023360"/>
          </a:xfrm>
          <a:prstGeom prst="roundRect">
            <a:avLst>
              <a:gd name="adj" fmla="val 3077"/>
            </a:avLst>
          </a:prstGeom>
          <a:solidFill>
            <a:srgbClr val="ECFDF5"/>
          </a:solidFill>
          <a:ln w="15240">
            <a:solidFill>
              <a:srgbClr val="A7F3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21040" y="1645920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321040" y="196596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Contract RBAC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321040" y="2651760"/>
            <a:ext cx="30175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Solidity smart contracts enforce isolated patient access matrices (doctorPermissions[p][d]) and emit indexed events for verifiable on-chain audit trails.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1429"/>
            </a:avLst>
          </a:prstGeom>
          <a:solidFill>
            <a:srgbClr val="F0F9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71500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COMPLIANCE: HIPAA Security Rule (§164.312) &amp; GDPR Article 17 Crypto-Shredding Compliant.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11091672" cy="27432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UNITED NATIONS 2030 AGENDA ALIGNMENT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685800"/>
            <a:ext cx="1109167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6355080"/>
            <a:ext cx="1109167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Ashish Anil Sikaria (23BCI0218) • Faculty Guide: Prof. SELVI M • SCOPE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686800" y="6419088"/>
            <a:ext cx="2953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 Semester 2026-27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 with UN Sustainable Development Goals (SDGs)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48640" y="137160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ECFDF5"/>
          </a:solidFill>
          <a:ln w="15240">
            <a:solidFill>
              <a:srgbClr val="A7F3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1554480"/>
            <a:ext cx="4892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3  •  TARGET 3.8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" y="181051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Health and Well-Being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2194560"/>
            <a:ext cx="48920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Provides portable, tamper-proof medical records across hospital networks and cross-border consultations, reducing diagnostic errors and duplicate procedures.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72200" y="137160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FFFBEB"/>
          </a:solidFill>
          <a:ln w="15240">
            <a:solidFill>
              <a:srgbClr val="FDE68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1554480"/>
            <a:ext cx="4892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9  •  TARGET 9.5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46520" y="181051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Industry, Innovation &amp; Infrastructure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46520" y="2194560"/>
            <a:ext cx="48920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Modernizes vulnerable legacy healthcare databases into resilient decentralized infrastructure combining cryptographic ledger security with IPFS.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365760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FFF1F2"/>
          </a:solidFill>
          <a:ln w="15240">
            <a:solidFill>
              <a:srgbClr val="FECDD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3840480"/>
            <a:ext cx="4892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10  •  TARGET 10.2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22960" y="409651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Inequalities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22960" y="4480560"/>
            <a:ext cx="48920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Democratizes patient ownership over health records regardless of socioeconomic status, preventing commercial healthcare monopolies and data lock-in.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172200" y="365760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EEF2FF"/>
          </a:solidFill>
          <a:ln w="15240">
            <a:solidFill>
              <a:srgbClr val="DDD6F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46520" y="3840480"/>
            <a:ext cx="4892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16  •  TARGET 16.6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46520" y="409651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Peace, Justice &amp; Strong Institutions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46520" y="4480560"/>
            <a:ext cx="48920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Establishes transparent, immutable on-chain audit trails for clinician licensing and diagnostic issuance, preventing healthcare malpractice fraud.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11091672" cy="27432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MATURITY SCORECARD • NASA / HORIZON EUROPE FRAMEWORK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685800"/>
            <a:ext cx="1109167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6355080"/>
            <a:ext cx="1109167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Ashish Anil Sikaria (23BCI0218) • Faculty Guide: Prof. SELVI M • SCOPE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686800" y="6419088"/>
            <a:ext cx="2953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 Semester 2026-27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Readiness Level (TRL) Assessment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48640" y="1325880"/>
            <a:ext cx="269748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46304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TRL 1 - 3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5800" y="1737360"/>
            <a:ext cx="2423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Formulation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364992" y="1325880"/>
            <a:ext cx="269748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02152" y="146304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TRL 4 - 5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502152" y="1737360"/>
            <a:ext cx="2423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Validation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81344" y="1325880"/>
            <a:ext cx="2697480" cy="960120"/>
          </a:xfrm>
          <a:prstGeom prst="roundRect">
            <a:avLst>
              <a:gd name="adj" fmla="val 9524"/>
            </a:avLst>
          </a:prstGeom>
          <a:solidFill>
            <a:srgbClr val="F0F9FF"/>
          </a:solidFill>
          <a:ln w="25400">
            <a:solidFill>
              <a:srgbClr val="0284C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18504" y="146304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TRL 6 VERIFIED ★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18504" y="1737360"/>
            <a:ext cx="2423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Demonstrated Prototype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8997696" y="1325880"/>
            <a:ext cx="269748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34856" y="146304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TRL 7 - 9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134856" y="1737360"/>
            <a:ext cx="2423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Deployment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8640" y="2468880"/>
            <a:ext cx="5440680" cy="3749040"/>
          </a:xfrm>
          <a:prstGeom prst="roundRect">
            <a:avLst>
              <a:gd name="adj" fmla="val 2927"/>
            </a:avLst>
          </a:prstGeom>
          <a:solidFill>
            <a:srgbClr val="ECFDF5"/>
          </a:solidFill>
          <a:ln w="15240">
            <a:solidFill>
              <a:srgbClr val="A7F3D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2651760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TRL 6 VERIFIED DELIVERABLES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22960" y="3017520"/>
            <a:ext cx="48920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Smart Contracts: MedicalRecord.sol deployed with 100% automated test coverage (11/11 Hardhat unit tests passing).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Cryptographic Gateway: Client-side AES-256-GCM symmetric buffer encryption and IPFS pinning via Pinata live.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Role-Based Portals: Web3 frontend with dedicated portals for Patients, Licensed Doctors, and Hospital Governance.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Enterprise Architecture: Monorepo with CI/CD automation, Docker orchestration, and RBAC middleware.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199632" y="2468880"/>
            <a:ext cx="5440680" cy="3749040"/>
          </a:xfrm>
          <a:prstGeom prst="roundRect">
            <a:avLst>
              <a:gd name="adj" fmla="val 2927"/>
            </a:avLst>
          </a:prstGeom>
          <a:solidFill>
            <a:srgbClr val="F0F9FF"/>
          </a:solidFill>
          <a:ln w="15240">
            <a:solidFill>
              <a:srgbClr val="BAE6F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73952" y="2651760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➔ ROADMAP TO TRL 9 (COMMERCIAL DEPLOYMENT)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473952" y="3017520"/>
            <a:ext cx="48920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TRL 7 (Operational Sandbox): Multi-hospital sandbox testing with HL7 FHIR structured schemas and ERC-4337 Passkey relayers.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TRL 8 (System Qualification): Formal smart contract verification by CertiK/OpenZeppelin and HIPAA/GDPR certification.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TRL 9 (Full Clinical Deployment): Production mainnet rollout across participating hospital consortiums and insurance validation nodes.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11091672" cy="27432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DIFFERENTIATORS &amp; HARD TECH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685800"/>
            <a:ext cx="1109167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6355080"/>
            <a:ext cx="1109167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Ashish Anil Sikaria (23BCI0218) • Faculty Guide: Prof. SELVI M • SCOPE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686800" y="6419088"/>
            <a:ext cx="2953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 Semester 2026-27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Next-Generation Protocol Innovations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48640" y="137160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FFF1F2"/>
          </a:solidFill>
          <a:ln w="15240">
            <a:solidFill>
              <a:srgbClr val="FECD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1572768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Break-Glass Emergency Protocol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22960" y="2011680"/>
            <a:ext cx="48920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Solves the unconscious ER patient dilemma: Verified physicians trigger time-delayed cryptographic challenges or multi-guardian signatures backed by on-chain audit penalties.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72200" y="137160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EEF2FF"/>
          </a:solidFill>
          <a:ln w="15240">
            <a:solidFill>
              <a:srgbClr val="DDD6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46520" y="1572768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Zero-Knowledge (ZK) Health Claims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46520" y="2011680"/>
            <a:ext cx="48920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zk-SNARK circuits allow patients to prove clinical trial or insurance eligibility (e.g. HbA1c &lt; 6.5%, age &gt; 18) without disclosing raw medical files or identity.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365760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F0F9FF"/>
          </a:solidFill>
          <a:ln w="15240">
            <a:solidFill>
              <a:srgbClr val="BAE6F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858768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Gasless Account Abstraction (ERC-4337)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2960" y="4297680"/>
            <a:ext cx="48920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Replaces seed phrases and gas tokens with WebAuthn Passkeys (TouchID / FaceID), sponsored by hospital Paymaster relayers.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172200" y="365760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ECFDF5"/>
          </a:solidFill>
          <a:ln w="15240">
            <a:solidFill>
              <a:srgbClr val="A7F3D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46520" y="3858768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Soulbound Tokens (SBTs - ERC-5192)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46520" y="4297680"/>
            <a:ext cx="48920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Non-transferable medical credentials minted by state medical boards. If a license is suspended, on-chain decryption permissions are instantly revoked.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11091672" cy="27432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 VALUE PROPOSITION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685800"/>
            <a:ext cx="1109167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6355080"/>
            <a:ext cx="1109167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Ashish Anil Sikaria (23BCI0218) • Faculty Guide: Prof. SELVI M • SCOPE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686800" y="6419088"/>
            <a:ext cx="2953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 Semester 2026-27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Multi-Sided Healthcare Economic Impact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48640" y="1371600"/>
            <a:ext cx="2697480" cy="4663440"/>
          </a:xfrm>
          <a:prstGeom prst="roundRect">
            <a:avLst>
              <a:gd name="adj" fmla="val 4068"/>
            </a:avLst>
          </a:prstGeom>
          <a:solidFill>
            <a:srgbClr val="F0F9FF"/>
          </a:solidFill>
          <a:ln w="15240">
            <a:solidFill>
              <a:srgbClr val="BAE6F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73736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31520" y="2377440"/>
            <a:ext cx="23317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data sovereignty, zero commercial exploitation, and seamless portable access across medical facilities.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364992" y="1371600"/>
            <a:ext cx="2697480" cy="4663440"/>
          </a:xfrm>
          <a:prstGeom prst="roundRect">
            <a:avLst>
              <a:gd name="adj" fmla="val 4068"/>
            </a:avLst>
          </a:prstGeom>
          <a:solidFill>
            <a:srgbClr val="ECFDF5"/>
          </a:solidFill>
          <a:ln w="15240">
            <a:solidFill>
              <a:srgbClr val="A7F3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47872" y="173736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Clinicians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547872" y="2377440"/>
            <a:ext cx="23317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verified medical histories, zero diagnostic redundancy, and reduced malpractice liability.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81344" y="1371600"/>
            <a:ext cx="2697480" cy="4663440"/>
          </a:xfrm>
          <a:prstGeom prst="roundRect">
            <a:avLst>
              <a:gd name="adj" fmla="val 4068"/>
            </a:avLst>
          </a:prstGeom>
          <a:solidFill>
            <a:srgbClr val="EEF2FF"/>
          </a:solidFill>
          <a:ln w="15240">
            <a:solidFill>
              <a:srgbClr val="DDD6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64224" y="173736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Researchers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364224" y="2377440"/>
            <a:ext cx="23317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Opt-in Compute-to-Data research pools with automated cryptographic patient micro-rewards.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997696" y="1371600"/>
            <a:ext cx="2697480" cy="4663440"/>
          </a:xfrm>
          <a:prstGeom prst="roundRect">
            <a:avLst>
              <a:gd name="adj" fmla="val 4068"/>
            </a:avLst>
          </a:prstGeom>
          <a:solidFill>
            <a:srgbClr val="FFFBEB"/>
          </a:solidFill>
          <a:ln w="15240">
            <a:solidFill>
              <a:srgbClr val="FDE68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80576" y="173736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Insurers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180576" y="2377440"/>
            <a:ext cx="23317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Tamper-proof smart contract claims verification, eliminating fraudulent billing and overhead.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11091672" cy="27432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DEMONSTRATION &amp; DELIVERABLES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685800"/>
            <a:ext cx="1109167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6355080"/>
            <a:ext cx="1109167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Ashish Anil Sikaria (23BCI0218) • Faculty Guide: Prof. SELVI M • SCOPE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686800" y="6419088"/>
            <a:ext cx="2953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 Semester 2026-27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Demonstration &amp; System Modules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48640" y="137160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F0F9FF"/>
          </a:solidFill>
          <a:ln w="15240">
            <a:solidFill>
              <a:srgbClr val="BAE6F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1572768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Health Vault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2011680"/>
            <a:ext cx="48920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AES-256 file encryption, IPFS pinning via Pinata, and toggleable doctor access control matrix.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72200" y="137160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ECFDF5"/>
          </a:solidFill>
          <a:ln w="15240">
            <a:solidFill>
              <a:srgbClr val="A7F3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46520" y="1572768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Practitioner Portal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46520" y="2011680"/>
            <a:ext cx="48920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Authorized patient EHR lookup, verified clinical diagnostic report uploads, and digital prescription issuance.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65760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EEF2FF"/>
          </a:solidFill>
          <a:ln w="15240">
            <a:solidFill>
              <a:srgbClr val="DDD6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858768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Governance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2960" y="4297680"/>
            <a:ext cx="48920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Practitioner license verification, smart contract telemetry, and HIPAA audit trail log exports.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72200" y="365760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FFFBEB"/>
          </a:solidFill>
          <a:ln w="15240">
            <a:solidFill>
              <a:srgbClr val="FDE68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46520" y="3858768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Web3 Wallet Layer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46520" y="4297680"/>
            <a:ext cx="48920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MetaMask provider integration alongside off-chain fallback simulation modes.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94360"/>
            <a:ext cx="10725912" cy="5669280"/>
          </a:xfrm>
          <a:prstGeom prst="roundRect">
            <a:avLst>
              <a:gd name="adj" fmla="val 2419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7280" y="868680"/>
            <a:ext cx="9994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ACADEMIC DEFENSE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97280" y="1234440"/>
            <a:ext cx="9994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CareChain: Redefining Sovereign Healthcare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645920" y="1965960"/>
            <a:ext cx="889711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CareChain delivers a verified, production-grade protocol for patient-governed electronic health records. Validated with 100% automated test coverage, zero-trust cryptographic security, and mapped against UN SDGs and TRL progression.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1371600" y="2834640"/>
            <a:ext cx="9445752" cy="3017520"/>
          </a:xfrm>
          <a:prstGeom prst="roundRect">
            <a:avLst>
              <a:gd name="adj" fmla="val 3636"/>
            </a:avLst>
          </a:prstGeom>
          <a:solidFill>
            <a:srgbClr val="F0F9FF"/>
          </a:solidFill>
          <a:ln w="15240">
            <a:solidFill>
              <a:srgbClr val="BAE6F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45920" y="3063240"/>
            <a:ext cx="42062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83080" y="315468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783080" y="3355848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Ashish Anil Sikaria (23BCI0218)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26480" y="3063240"/>
            <a:ext cx="42062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63640" y="315468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&amp; SEMESTER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263640" y="3355848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BCSE497J (Project - I) • Fall 2026-27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645920" y="3931920"/>
            <a:ext cx="42062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783080" y="402336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GUIDE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783080" y="4224528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SELVI M (Emp ID: 16106)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26480" y="3931920"/>
            <a:ext cx="42062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63640" y="402336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263640" y="4224528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(Computer Science &amp; Engineering)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645920" y="4800600"/>
            <a:ext cx="42062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783080" y="489204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READINESS LEVEL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783080" y="5093208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TRL 6 (Demonstrated Prototype)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26480" y="4800600"/>
            <a:ext cx="42062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63640" y="489204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SDG ALIGNMENT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263640" y="5093208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SDGs 3.8, 9.5, 10.2, 16.6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 standalone="yes"?>
<Properties xmlns="http://schemas.openxmlformats.org/officeDocument/2006/extended-properties" xmlns:vt="http://schemas.openxmlformats.org/officeDocument/2006/docPropsVTypes">
	<TotalTime>0</TotalTime>
	<Words>0</Words>
	<Application>Microsoft Office PowerPoint</Application>
	<PresentationFormat>On-screen Show (16:9)</PresentationFormat>
	<Paragraphs>0</Paragraphs>
	<Slides>10</Slides>
	<Notes>10</Notes>
	<HiddenSlides>0</HiddenSlides>
	<MMClips>0</MMClips>
	<ScaleCrop>false</ScaleCrop>
	<HeadingPairs>
		<vt:vector size="6" baseType="variant">
			<vt:variant><vt:lpstr>Fonts Used</vt:lpstr></vt:variant>
			<vt:variant><vt:i4>2</vt:i4></vt:variant>
			<vt:variant><vt:lpstr>Theme</vt:lpstr></vt:variant>
			<vt:variant><vt:i4>1</vt:i4></vt:variant>
			<vt:variant><vt:lpstr>Slide Titles</vt:lpstr></vt:variant>
			<vt:variant><vt:i4>10</vt:i4></vt:variant>
		</vt:vector>
	</HeadingPairs>
	<TitlesOfParts>
		<vt:vector size="13" baseType="lpstr">
			<vt:lpstr>Arial</vt:lpstr>
			<vt:lpstr>Calibri</vt:lpstr>
			<vt:lpstr>Office Theme</vt:lpstr>
			<vt:lpstr>Slide 1</vt:lpstr><vt:lpstr>Slide 2</vt:lpstr><vt:lpstr>Slide 3</vt:lpstr><vt:lpstr>Slide 4</vt:lpstr><vt:lpstr>Slide 5</vt:lpstr><vt:lpstr>Slide 6</vt:lpstr><vt:lpstr>Slide 7</vt:lpstr><vt:lpstr>Slide 8</vt:lpstr><vt:lpstr>Slide 9</vt:lpstr><vt:lpstr>Slide 10</vt:lpstr>
		</vt:vector>
	</TitlesOfParts>
	<Company>SCOPE - School of Computer Science & Engineering</Company>
	<LinksUpToDate>false</LinksUpToDate>
	<SharedDoc>false</SharedDoc>
	<HyperlinksChanged>false</HyperlinksChanged>
	<AppVersion>16.0000</AppVersion>
	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CareChain - BCSE497J Project I Presentation</dc:title>
  <dc:subject>Decentralized Electronic Health Record Protocol</dc:subject>
  <dc:creator>Ashish Anil Sikaria</dc:creator>
  <cp:lastModifiedBy>Ashish Anil Sikaria</cp:lastModifiedBy>
  <cp:revision>1</cp:revision>
  <dcterms:created xsi:type="dcterms:W3CDTF">2026-08-28T09:20:00Z</dcterms:created>
  <dcterms:modified xsi:type="dcterms:W3CDTF">2026-08-28T09:20:00Z</dcterms:modified>
</cp:coreProperties>
</file>