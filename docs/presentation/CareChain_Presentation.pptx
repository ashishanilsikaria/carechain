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97280" y="731520"/>
            <a:ext cx="5303520" cy="347472"/>
          </a:xfrm>
          <a:prstGeom prst="roundRect">
            <a:avLst/>
          </a:prstGeom>
          <a:solidFill>
            <a:srgbClr val="F0F9FF"/>
          </a:solidFill>
          <a:ln w="12700">
            <a:solidFill>
              <a:srgbClr val="BAE6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369A1"/>
                </a:solidFill>
                <a:latin typeface="Calibri"/>
              </a:defRPr>
            </a:pPr>
            <a:r>
              <a:t>FALL SEMESTER 2026-27  •  BCSE497J - PROJECT - 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234440"/>
            <a:ext cx="10058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600" b="1">
                <a:solidFill>
                  <a:srgbClr val="0F172A"/>
                </a:solidFill>
                <a:latin typeface="Calibri"/>
              </a:defRPr>
            </a:pPr>
            <a:r>
              <a:t>CareChain</a:t>
            </a:r>
          </a:p>
          <a:p>
            <a:pPr>
              <a:defRPr sz="1800" b="1">
                <a:solidFill>
                  <a:srgbClr val="0284C7"/>
                </a:solidFill>
                <a:latin typeface="Calibri"/>
              </a:defRPr>
            </a:pPr>
            <a:r>
              <a:t>Decentralized, Patient-Centric Electronic Health Record Protocol</a:t>
            </a:r>
          </a:p>
          <a:p>
            <a:pPr>
              <a:defRPr sz="1200">
                <a:solidFill>
                  <a:srgbClr val="64748B"/>
                </a:solidFill>
                <a:latin typeface="Calibri"/>
              </a:defRPr>
            </a:pPr>
            <a:r>
              <a:t>Empowering patient data sovereignty through Ethereum Smart Contracts, AES-256 Client-Side Encryption, and Decentralized IPFS Storage.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3337560"/>
            <a:ext cx="4754880" cy="24688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369A1"/>
                </a:solidFill>
                <a:latin typeface="Calibri"/>
              </a:defRPr>
            </a:pPr>
            <a:r>
              <a:t>SUBMITTED BY</a:t>
            </a:r>
          </a:p>
          <a:p>
            <a:pPr>
              <a:defRPr sz="1900" b="1">
                <a:solidFill>
                  <a:srgbClr val="0F172A"/>
                </a:solidFill>
                <a:latin typeface="Calibri"/>
              </a:defRPr>
            </a:pPr>
            <a:r>
              <a:t>Ashish Anil Sikaria</a:t>
            </a:r>
          </a:p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Register Number: 23BCI0218</a:t>
            </a:r>
            <a:br/>
            <a:r>
              <a:t>Programme: B.Tech Computer Science &amp; Engineering</a:t>
            </a:r>
            <a:br/>
            <a:r>
              <a:t>School: SCOPE (School of Computer Science &amp; Engineering)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3337560"/>
            <a:ext cx="4754880" cy="2468880"/>
          </a:xfrm>
          <a:prstGeom prst="roundRect">
            <a:avLst/>
          </a:prstGeom>
          <a:solidFill>
            <a:srgbClr val="F0F9FF"/>
          </a:solidFill>
          <a:ln w="19050">
            <a:solidFill>
              <a:srgbClr val="BAE6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369A1"/>
                </a:solidFill>
                <a:latin typeface="Calibri"/>
              </a:defRPr>
            </a:pPr>
            <a:r>
              <a:t>FACULTY GUIDE</a:t>
            </a:r>
          </a:p>
          <a:p>
            <a:pPr>
              <a:defRPr sz="1900" b="1">
                <a:solidFill>
                  <a:srgbClr val="0F172A"/>
                </a:solidFill>
                <a:latin typeface="Calibri"/>
              </a:defRPr>
            </a:pPr>
            <a:r>
              <a:t>Prof. SELVI M</a:t>
            </a:r>
          </a:p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Designation: Associate Professor Grade 2</a:t>
            </a:r>
            <a:br/>
            <a:r>
              <a:t>Employee ID: 16106</a:t>
            </a:r>
            <a:br/>
            <a:r>
              <a:t>School: SCOPE • Registration Status: Approved by Guide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59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284C7"/>
                </a:solidFill>
                <a:latin typeface="Calibri"/>
              </a:defRPr>
            </a:pPr>
            <a:r>
              <a:t>ACADEMIC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72591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Calibri"/>
              </a:defRPr>
            </a:pPr>
            <a:r>
              <a:t>Institutional Registration &amp; Governance Profile</a:t>
            </a:r>
          </a:p>
          <a:p>
            <a:pPr>
              <a:defRPr sz="1100">
                <a:solidFill>
                  <a:srgbClr val="64748B"/>
                </a:solidFill>
                <a:latin typeface="Calibri"/>
              </a:defRPr>
            </a:pPr>
            <a:r>
              <a:t>Formal curriculum registration specifications approved by faculty guide.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0725912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6263640"/>
            <a:ext cx="10725912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327648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Calibri"/>
              </a:defRPr>
            </a:pPr>
            <a:r>
              <a:t>CareChain • Ashish Anil Sikaria (23BCI0218) • Guide: Prof. SELVI M • SCOPE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327648"/>
            <a:ext cx="368503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  <a:latin typeface="Calibri"/>
              </a:defRPr>
            </a:pPr>
            <a:r>
              <a:t>BCSE497J Project - I • Fall 2026-27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463040"/>
            <a:ext cx="3429000" cy="1234440"/>
          </a:xfrm>
          <a:prstGeom prst="roundRect">
            <a:avLst/>
          </a:prstGeom>
          <a:solidFill>
            <a:srgbClr val="F0F9FF"/>
          </a:solidFill>
          <a:ln w="15240">
            <a:solidFill>
              <a:srgbClr val="BAE6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64748B"/>
                </a:solidFill>
                <a:latin typeface="Calibri"/>
              </a:defRPr>
            </a:pPr>
            <a:r>
              <a:t>PROJECT TITLE</a:t>
            </a:r>
          </a:p>
          <a:p>
            <a:pPr>
              <a:defRPr sz="1300" b="1">
                <a:solidFill>
                  <a:srgbClr val="0369A1"/>
                </a:solidFill>
                <a:latin typeface="Calibri"/>
              </a:defRPr>
            </a:pPr>
            <a:r>
              <a:t>CareChain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1463040"/>
            <a:ext cx="3429000" cy="1234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64748B"/>
                </a:solidFill>
                <a:latin typeface="Calibri"/>
              </a:defRPr>
            </a:pPr>
            <a:r>
              <a:t>COURSE DETAILS</a:t>
            </a:r>
          </a:p>
          <a:p>
            <a:pPr>
              <a:defRPr sz="1300" b="1">
                <a:solidFill>
                  <a:srgbClr val="0F172A"/>
                </a:solidFill>
                <a:latin typeface="Calibri"/>
              </a:defRPr>
            </a:pPr>
            <a:r>
              <a:t>BCSE497J - Project - 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463040"/>
            <a:ext cx="3429000" cy="1234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64748B"/>
                </a:solidFill>
                <a:latin typeface="Calibri"/>
              </a:defRPr>
            </a:pPr>
            <a:r>
              <a:t>ACADEMIC SESSION</a:t>
            </a:r>
          </a:p>
          <a:p>
            <a:pPr>
              <a:defRPr sz="1300" b="1">
                <a:solidFill>
                  <a:srgbClr val="0F172A"/>
                </a:solidFill>
                <a:latin typeface="Calibri"/>
              </a:defRPr>
            </a:pPr>
            <a:r>
              <a:t>Fall Semester 2026-27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2880360"/>
            <a:ext cx="3429000" cy="1234440"/>
          </a:xfrm>
          <a:prstGeom prst="roundRect">
            <a:avLst/>
          </a:prstGeom>
          <a:solidFill>
            <a:srgbClr val="F0F9FF"/>
          </a:solidFill>
          <a:ln w="15240">
            <a:solidFill>
              <a:srgbClr val="BAE6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64748B"/>
                </a:solidFill>
                <a:latin typeface="Calibri"/>
              </a:defRPr>
            </a:pPr>
            <a:r>
              <a:t>PROJECT OPTION / DURATION</a:t>
            </a:r>
          </a:p>
          <a:p>
            <a:pPr>
              <a:defRPr sz="1300" b="1">
                <a:solidFill>
                  <a:srgbClr val="0369A1"/>
                </a:solidFill>
                <a:latin typeface="Calibri"/>
              </a:defRPr>
            </a:pPr>
            <a:r>
              <a:t>General • 6 ( Months ) Regular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2880360"/>
            <a:ext cx="3429000" cy="1234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64748B"/>
                </a:solidFill>
                <a:latin typeface="Calibri"/>
              </a:defRPr>
            </a:pPr>
            <a:r>
              <a:t>STUDENT NAME</a:t>
            </a:r>
          </a:p>
          <a:p>
            <a:pPr>
              <a:defRPr sz="1300" b="1">
                <a:solidFill>
                  <a:srgbClr val="0F172A"/>
                </a:solidFill>
                <a:latin typeface="Calibri"/>
              </a:defRPr>
            </a:pPr>
            <a:r>
              <a:t>Ashish Anil Sikaria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2880360"/>
            <a:ext cx="3429000" cy="1234440"/>
          </a:xfrm>
          <a:prstGeom prst="roundRect">
            <a:avLst/>
          </a:prstGeom>
          <a:solidFill>
            <a:srgbClr val="F0F9FF"/>
          </a:solidFill>
          <a:ln w="15240">
            <a:solidFill>
              <a:srgbClr val="BAE6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64748B"/>
                </a:solidFill>
                <a:latin typeface="Calibri"/>
              </a:defRPr>
            </a:pPr>
            <a:r>
              <a:t>REGISTER NUMBER</a:t>
            </a:r>
          </a:p>
          <a:p>
            <a:pPr>
              <a:defRPr sz="1300" b="1">
                <a:solidFill>
                  <a:srgbClr val="0369A1"/>
                </a:solidFill>
                <a:latin typeface="Calibri"/>
              </a:defRPr>
            </a:pPr>
            <a:r>
              <a:t>23BCI0218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297680"/>
            <a:ext cx="3429000" cy="1234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64748B"/>
                </a:solidFill>
                <a:latin typeface="Calibri"/>
              </a:defRPr>
            </a:pPr>
            <a:r>
              <a:t>FACULTY GUIDE</a:t>
            </a:r>
          </a:p>
          <a:p>
            <a:pPr>
              <a:defRPr sz="1300" b="1">
                <a:solidFill>
                  <a:srgbClr val="0F172A"/>
                </a:solidFill>
                <a:latin typeface="Calibri"/>
              </a:defRPr>
            </a:pPr>
            <a:r>
              <a:t>Prof. SELVI M (Emp ID: 16106)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34840" y="4297680"/>
            <a:ext cx="3429000" cy="1234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64748B"/>
                </a:solidFill>
                <a:latin typeface="Calibri"/>
              </a:defRPr>
            </a:pPr>
            <a:r>
              <a:t>ACADEMIC SCHOOL</a:t>
            </a:r>
          </a:p>
          <a:p>
            <a:pPr>
              <a:defRPr sz="1300" b="1">
                <a:solidFill>
                  <a:srgbClr val="0F172A"/>
                </a:solidFill>
                <a:latin typeface="Calibri"/>
              </a:defRPr>
            </a:pPr>
            <a:r>
              <a:t>SCOPE (Computer Science &amp; Eng.)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4297680"/>
            <a:ext cx="3429000" cy="1234440"/>
          </a:xfrm>
          <a:prstGeom prst="roundRect">
            <a:avLst/>
          </a:prstGeom>
          <a:solidFill>
            <a:srgbClr val="F0FDFA"/>
          </a:solidFill>
          <a:ln w="1524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64748B"/>
                </a:solidFill>
                <a:latin typeface="Calibri"/>
              </a:defRPr>
            </a:pPr>
            <a:r>
              <a:t>REGISTRATION STATUS</a:t>
            </a:r>
          </a:p>
          <a:p>
            <a:pPr>
              <a:defRPr sz="1300" b="1">
                <a:solidFill>
                  <a:srgbClr val="4C9F38"/>
                </a:solidFill>
                <a:latin typeface="Calibri"/>
              </a:defRPr>
            </a:pPr>
            <a:r>
              <a:t>Registered &amp; Approved by Guide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5532120"/>
            <a:ext cx="10725912" cy="502920"/>
          </a:xfrm>
          <a:prstGeom prst="roundRect">
            <a:avLst/>
          </a:prstGeom>
          <a:solidFill>
            <a:srgbClr val="F0FDFA"/>
          </a:solidFill>
          <a:ln w="1270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4C9F38"/>
                </a:solidFill>
                <a:latin typeface="Calibri"/>
              </a:defRPr>
            </a:pPr>
            <a:r>
              <a:t>OFFICIAL REGISTRATION VERIFIED: Approved under faculty supervision in SCOPE for Fall 2026-27.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59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284C7"/>
                </a:solidFill>
                <a:latin typeface="Calibri"/>
              </a:defRPr>
            </a:pPr>
            <a:r>
              <a:t>MARKET &amp; INDUSTRY CRISIS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72591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Calibri"/>
              </a:defRPr>
            </a:pPr>
            <a:r>
              <a:t>The Fundamental Failure of Centralized Healthcare Data</a:t>
            </a:r>
          </a:p>
          <a:p>
            <a:pPr>
              <a:defRPr sz="1100">
                <a:solidFill>
                  <a:srgbClr val="64748B"/>
                </a:solidFill>
                <a:latin typeface="Calibri"/>
              </a:defRPr>
            </a:pPr>
            <a:r>
              <a:t>Ransomware targets, non-interoperable hospital silos, and zero patient sovereignty.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0725912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6263640"/>
            <a:ext cx="10725912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327648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Calibri"/>
              </a:defRPr>
            </a:pPr>
            <a:r>
              <a:t>CareChain • Ashish Anil Sikaria (23BCI0218) • Guide: Prof. SELVI M • SCOPE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327648"/>
            <a:ext cx="368503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  <a:latin typeface="Calibri"/>
              </a:defRPr>
            </a:pPr>
            <a:r>
              <a:t>BCSE497J Project - I • Fall 2026-27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463040"/>
            <a:ext cx="3840480" cy="4480560"/>
          </a:xfrm>
          <a:prstGeom prst="roundRect">
            <a:avLst/>
          </a:prstGeom>
          <a:solidFill>
            <a:srgbClr val="FFF1F2"/>
          </a:solidFill>
          <a:ln w="19050">
            <a:solidFill>
              <a:srgbClr val="FECD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E11D48"/>
                </a:solidFill>
                <a:latin typeface="Calibri"/>
              </a:defRPr>
            </a:pPr>
            <a:r>
              <a:t>HEALTHCARE DATA CRISIS</a:t>
            </a:r>
          </a:p>
          <a:p>
            <a:pPr>
              <a:defRPr sz="4400" b="1">
                <a:solidFill>
                  <a:srgbClr val="0F172A"/>
                </a:solidFill>
                <a:latin typeface="Calibri"/>
              </a:defRPr>
            </a:pPr>
            <a:r>
              <a:t>133M+</a:t>
            </a:r>
          </a:p>
          <a:p>
            <a:pPr>
              <a:defRPr sz="1300" b="1">
                <a:solidFill>
                  <a:srgbClr val="E11D48"/>
                </a:solidFill>
                <a:latin typeface="Calibri"/>
              </a:defRPr>
            </a:pPr>
            <a:r>
              <a:t>Patient Records Breached in 2023–2025</a:t>
            </a:r>
          </a:p>
          <a:p>
            <a:br/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Centralized hospital database servers remain the #1 prime target for global ransomware cartels, causing catastrophic identity leakage and medical fraud.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54880" y="1463040"/>
            <a:ext cx="6702552" cy="1371600"/>
          </a:xfrm>
          <a:prstGeom prst="roundRect">
            <a:avLst/>
          </a:prstGeom>
          <a:solidFill>
            <a:srgbClr val="FFFBEB"/>
          </a:solidFill>
          <a:ln w="15240">
            <a:solidFill>
              <a:srgbClr val="FDE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F172A"/>
                </a:solidFill>
                <a:latin typeface="Calibri"/>
              </a:defRPr>
            </a:pPr>
            <a:r>
              <a:t>01   Zero Patient Sovereignty</a:t>
            </a:r>
          </a:p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Patients have zero visibility into who accesses, shares, or commercializes their diagnostic records among third-party commercial brokers.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0" y="2999232"/>
            <a:ext cx="6702552" cy="1371600"/>
          </a:xfrm>
          <a:prstGeom prst="roundRect">
            <a:avLst/>
          </a:prstGeom>
          <a:solidFill>
            <a:srgbClr val="F0F9FF"/>
          </a:solidFill>
          <a:ln w="15240">
            <a:solidFill>
              <a:srgbClr val="BAE6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F172A"/>
                </a:solidFill>
                <a:latin typeface="Calibri"/>
              </a:defRPr>
            </a:pPr>
            <a:r>
              <a:t>02   Fragmented Interoperability Silos</a:t>
            </a:r>
          </a:p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Incompatible hospital software systems create life-threatening information blind spots in emergency trauma care, forcing duplicate diagnostics.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54880" y="4535424"/>
            <a:ext cx="6702552" cy="1371600"/>
          </a:xfrm>
          <a:prstGeom prst="roundRect">
            <a:avLst/>
          </a:prstGeom>
          <a:solidFill>
            <a:srgbClr val="EEF2FF"/>
          </a:solidFill>
          <a:ln w="15240">
            <a:solidFill>
              <a:srgbClr val="C7D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F172A"/>
                </a:solidFill>
                <a:latin typeface="Calibri"/>
              </a:defRPr>
            </a:pPr>
            <a:r>
              <a:t>03   Lack of Tamper-Evident Audits</a:t>
            </a:r>
          </a:p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Legacy relational databases lack cryptographic non-repudiation, allowing retrospective record alterations and untraceable access logs.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59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284C7"/>
                </a:solidFill>
                <a:latin typeface="Calibri"/>
              </a:defRPr>
            </a:pPr>
            <a:r>
              <a:t>TECHNICAL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72591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Calibri"/>
              </a:defRPr>
            </a:pPr>
            <a:r>
              <a:t>The CareChain Zero-Trust Healthcare Protocol</a:t>
            </a:r>
          </a:p>
          <a:p>
            <a:pPr>
              <a:defRPr sz="1100">
                <a:solidFill>
                  <a:srgbClr val="64748B"/>
                </a:solidFill>
                <a:latin typeface="Calibri"/>
              </a:defRPr>
            </a:pPr>
            <a:r>
              <a:t>A layered Web2/Web3 architecture separating cryptography, decentralized storage, and access control.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0725912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6263640"/>
            <a:ext cx="10725912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327648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Calibri"/>
              </a:defRPr>
            </a:pPr>
            <a:r>
              <a:t>CareChain • Ashish Anil Sikaria (23BCI0218) • Guide: Prof. SELVI M • SCOPE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327648"/>
            <a:ext cx="368503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  <a:latin typeface="Calibri"/>
              </a:defRPr>
            </a:pPr>
            <a:r>
              <a:t>BCSE497J Project - I • Fall 2026-27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463040"/>
            <a:ext cx="3429000" cy="3931920"/>
          </a:xfrm>
          <a:prstGeom prst="roundRect">
            <a:avLst/>
          </a:prstGeom>
          <a:solidFill>
            <a:srgbClr val="F0F9FF"/>
          </a:solidFill>
          <a:ln w="15240">
            <a:solidFill>
              <a:srgbClr val="BAE6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50" b="1">
                <a:solidFill>
                  <a:srgbClr val="0369A1"/>
                </a:solidFill>
                <a:latin typeface="Calibri"/>
              </a:defRPr>
            </a:pPr>
            <a:r>
              <a:t>LAYER 01 : CLIENT PRIVACY</a:t>
            </a:r>
          </a:p>
          <a:p>
            <a:pPr>
              <a:defRPr sz="1600" b="1">
                <a:solidFill>
                  <a:srgbClr val="0F172A"/>
                </a:solidFill>
                <a:latin typeface="Calibri"/>
              </a:defRPr>
            </a:pPr>
            <a:r>
              <a:t>AES-256-GCM Encryption</a:t>
            </a:r>
          </a:p>
          <a:p>
            <a:br/>
            <a:pPr>
              <a:defRPr sz="1150">
                <a:solidFill>
                  <a:srgbClr val="334155"/>
                </a:solidFill>
                <a:latin typeface="Calibri"/>
              </a:defRPr>
            </a:pPr>
            <a:r>
              <a:t>All medical files and diagnostic scans are encrypted locally in the browser with unique 256-bit symmetric keys, 12-byte IVs, and 16-byte auth tags before leaving the device.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1463040"/>
            <a:ext cx="3429000" cy="3931920"/>
          </a:xfrm>
          <a:prstGeom prst="roundRect">
            <a:avLst/>
          </a:prstGeom>
          <a:solidFill>
            <a:srgbClr val="EEF2FF"/>
          </a:solidFill>
          <a:ln w="15240">
            <a:solidFill>
              <a:srgbClr val="C7D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50" b="1">
                <a:solidFill>
                  <a:srgbClr val="00689D"/>
                </a:solidFill>
                <a:latin typeface="Calibri"/>
              </a:defRPr>
            </a:pPr>
            <a:r>
              <a:t>LAYER 02 : DECENTRALIZED PINNING</a:t>
            </a:r>
          </a:p>
          <a:p>
            <a:pPr>
              <a:defRPr sz="1600" b="1">
                <a:solidFill>
                  <a:srgbClr val="0F172A"/>
                </a:solidFill>
                <a:latin typeface="Calibri"/>
              </a:defRPr>
            </a:pPr>
            <a:r>
              <a:t>IPFS Storage Protocol</a:t>
            </a:r>
          </a:p>
          <a:p>
            <a:br/>
            <a:pPr>
              <a:defRPr sz="1150">
                <a:solidFill>
                  <a:srgbClr val="334155"/>
                </a:solidFill>
                <a:latin typeface="Calibri"/>
              </a:defRPr>
            </a:pPr>
            <a:r>
              <a:t>Encrypted ciphertexts are pinned across decentralized IPFS nodes, generating immutable Content Identifiers (CIDs). Zero Protected Health Information (PHI) is ever exposed on-chain.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463040"/>
            <a:ext cx="3429000" cy="3931920"/>
          </a:xfrm>
          <a:prstGeom prst="roundRect">
            <a:avLst/>
          </a:prstGeom>
          <a:solidFill>
            <a:srgbClr val="F0FDFA"/>
          </a:solidFill>
          <a:ln w="1524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50" b="1">
                <a:solidFill>
                  <a:srgbClr val="4C9F38"/>
                </a:solidFill>
                <a:latin typeface="Calibri"/>
              </a:defRPr>
            </a:pPr>
            <a:r>
              <a:t>LAYER 03 : ACCESS GOVERNANCE</a:t>
            </a:r>
          </a:p>
          <a:p>
            <a:pPr>
              <a:defRPr sz="1600" b="1">
                <a:solidFill>
                  <a:srgbClr val="0F172A"/>
                </a:solidFill>
                <a:latin typeface="Calibri"/>
              </a:defRPr>
            </a:pPr>
            <a:r>
              <a:t>Smart Contract RBAC</a:t>
            </a:r>
          </a:p>
          <a:p>
            <a:br/>
            <a:pPr>
              <a:defRPr sz="1150">
                <a:solidFill>
                  <a:srgbClr val="334155"/>
                </a:solidFill>
                <a:latin typeface="Calibri"/>
              </a:defRPr>
            </a:pPr>
            <a:r>
              <a:t>Solidity contracts enforce isolated patient access matrices (doctorPermissions[p][d]) and emit indexed blockchain events for an immutable regulatory audit trail.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5532120"/>
            <a:ext cx="10725912" cy="502920"/>
          </a:xfrm>
          <a:prstGeom prst="roundRect">
            <a:avLst/>
          </a:prstGeom>
          <a:solidFill>
            <a:srgbClr val="F0F9FF"/>
          </a:solidFill>
          <a:ln w="12700">
            <a:solidFill>
              <a:srgbClr val="BAE6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0369A1"/>
                </a:solidFill>
                <a:latin typeface="Calibri"/>
              </a:defRPr>
            </a:pPr>
            <a:r>
              <a:t>REGULATORY COMPLIANCE: HIPAA Security Rule (§164.312) &amp; GDPR Article 17 Crypto-Shredding Compliant.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59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284C7"/>
                </a:solidFill>
                <a:latin typeface="Calibri"/>
              </a:defRPr>
            </a:pPr>
            <a:r>
              <a:t>GLOBAL SUSTAINABILITY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72591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Calibri"/>
              </a:defRPr>
            </a:pPr>
            <a:r>
              <a:t>Alignment with UN Sustainable Development Goals (SDGs)</a:t>
            </a:r>
          </a:p>
          <a:p>
            <a:pPr>
              <a:defRPr sz="1100">
                <a:solidFill>
                  <a:srgbClr val="64748B"/>
                </a:solidFill>
                <a:latin typeface="Calibri"/>
              </a:defRPr>
            </a:pPr>
            <a:r>
              <a:t>CareChain directly contributes to 4 major United Nations 2030 Agenda targets.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0725912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6263640"/>
            <a:ext cx="10725912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327648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Calibri"/>
              </a:defRPr>
            </a:pPr>
            <a:r>
              <a:t>CareChain • Ashish Anil Sikaria (23BCI0218) • Guide: Prof. SELVI M • SCOPE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327648"/>
            <a:ext cx="368503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  <a:latin typeface="Calibri"/>
              </a:defRPr>
            </a:pPr>
            <a:r>
              <a:t>BCSE497J Project - I • Fall 2026-27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463040"/>
            <a:ext cx="5239512" cy="205740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4C9F38"/>
                </a:solidFill>
                <a:latin typeface="Calibri"/>
              </a:defRPr>
            </a:pPr>
            <a:r>
              <a:t>SDG 3   •   TARGET 3.8</a:t>
            </a:r>
          </a:p>
          <a:p>
            <a:pPr>
              <a:defRPr sz="1500" b="1">
                <a:solidFill>
                  <a:srgbClr val="0F172A"/>
                </a:solidFill>
                <a:latin typeface="Calibri"/>
              </a:defRPr>
            </a:pPr>
            <a:r>
              <a:t>Good Health and Well-Being</a:t>
            </a:r>
          </a:p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Provides portable, tamper-proof medical records across hospital networks and cross-border consultations, reducing diagnostic errors and duplicate testing.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463040"/>
            <a:ext cx="5239512" cy="2057400"/>
          </a:xfrm>
          <a:prstGeom prst="roundRect">
            <a:avLst/>
          </a:prstGeom>
          <a:solidFill>
            <a:srgbClr val="FFF7ED"/>
          </a:solidFill>
          <a:ln w="19050">
            <a:solidFill>
              <a:srgbClr val="FED7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D6925"/>
                </a:solidFill>
                <a:latin typeface="Calibri"/>
              </a:defRPr>
            </a:pPr>
            <a:r>
              <a:t>SDG 9   •   TARGET 9.5</a:t>
            </a:r>
          </a:p>
          <a:p>
            <a:pPr>
              <a:defRPr sz="1500" b="1">
                <a:solidFill>
                  <a:srgbClr val="0F172A"/>
                </a:solidFill>
                <a:latin typeface="Calibri"/>
              </a:defRPr>
            </a:pPr>
            <a:r>
              <a:t>Industry, Innovation &amp; Infrastructure</a:t>
            </a:r>
          </a:p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Modernizes vulnerable legacy healthcare databases into resilient decentralized infrastructure combining cryptographic ledger security with IPFS.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703320"/>
            <a:ext cx="5239512" cy="2057400"/>
          </a:xfrm>
          <a:prstGeom prst="roundRect">
            <a:avLst/>
          </a:prstGeom>
          <a:solidFill>
            <a:srgbClr val="FDF2F8"/>
          </a:solidFill>
          <a:ln w="19050">
            <a:solidFill>
              <a:srgbClr val="FBC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DD1367"/>
                </a:solidFill>
                <a:latin typeface="Calibri"/>
              </a:defRPr>
            </a:pPr>
            <a:r>
              <a:t>SDG 10   •   TARGET 10.2</a:t>
            </a:r>
          </a:p>
          <a:p>
            <a:pPr>
              <a:defRPr sz="1500" b="1">
                <a:solidFill>
                  <a:srgbClr val="0F172A"/>
                </a:solidFill>
                <a:latin typeface="Calibri"/>
              </a:defRPr>
            </a:pPr>
            <a:r>
              <a:t>Reduced Inequalities</a:t>
            </a:r>
          </a:p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Democratizes patient ownership over health records regardless of socioeconomic status, preventing commercial healthcare monopolies and data lock-in.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703320"/>
            <a:ext cx="5239512" cy="2057400"/>
          </a:xfrm>
          <a:prstGeom prst="roundRect">
            <a:avLst/>
          </a:prstGeom>
          <a:solidFill>
            <a:srgbClr val="F0F9FF"/>
          </a:solidFill>
          <a:ln w="19050">
            <a:solidFill>
              <a:srgbClr val="BAE6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00689D"/>
                </a:solidFill>
                <a:latin typeface="Calibri"/>
              </a:defRPr>
            </a:pPr>
            <a:r>
              <a:t>SDG 16   •   TARGET 16.6</a:t>
            </a:r>
          </a:p>
          <a:p>
            <a:pPr>
              <a:defRPr sz="1500" b="1">
                <a:solidFill>
                  <a:srgbClr val="0F172A"/>
                </a:solidFill>
                <a:latin typeface="Calibri"/>
              </a:defRPr>
            </a:pPr>
            <a:r>
              <a:t>Peace, Justice &amp; Strong Institutions</a:t>
            </a:r>
          </a:p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Establishes transparent, immutable on-chain audit trails for clinician licensing and diagnostic issuance, preventing healthcare malpractice fraud.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59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284C7"/>
                </a:solidFill>
                <a:latin typeface="Calibri"/>
              </a:defRPr>
            </a:pPr>
            <a:r>
              <a:t>TECHNICAL MATURITY SCORECARD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72591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Calibri"/>
              </a:defRPr>
            </a:pPr>
            <a:r>
              <a:t>Technology Readiness Level (TRL 6 Verified Prototype)</a:t>
            </a:r>
          </a:p>
          <a:p>
            <a:pPr>
              <a:defRPr sz="1100">
                <a:solidFill>
                  <a:srgbClr val="64748B"/>
                </a:solidFill>
                <a:latin typeface="Calibri"/>
              </a:defRPr>
            </a:pPr>
            <a:r>
              <a:t>Maturity benchmarking mapped against NASA and Horizon Europe readiness standards.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0725912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6263640"/>
            <a:ext cx="10725912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327648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Calibri"/>
              </a:defRPr>
            </a:pPr>
            <a:r>
              <a:t>CareChain • Ashish Anil Sikaria (23BCI0218) • Guide: Prof. SELVI M • SCOPE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327648"/>
            <a:ext cx="368503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  <a:latin typeface="Calibri"/>
              </a:defRPr>
            </a:pPr>
            <a:r>
              <a:t>BCSE497J Project - I • Fall 2026-27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417320"/>
            <a:ext cx="2496312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4748B"/>
                </a:solidFill>
                <a:latin typeface="Calibri"/>
              </a:defRPr>
            </a:pPr>
            <a:r>
              <a:t>TRL 1 - 3</a:t>
            </a:r>
          </a:p>
          <a:p>
            <a:pPr algn="ctr">
              <a:defRPr sz="850">
                <a:solidFill>
                  <a:srgbClr val="64748B"/>
                </a:solidFill>
                <a:latin typeface="Calibri"/>
              </a:defRPr>
            </a:pPr>
            <a:r>
              <a:t>Basic Research &amp; Concept Formulation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0" y="1417320"/>
            <a:ext cx="2496312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4748B"/>
                </a:solidFill>
                <a:latin typeface="Calibri"/>
              </a:defRPr>
            </a:pPr>
            <a:r>
              <a:t>TRL 4 - 5</a:t>
            </a:r>
          </a:p>
          <a:p>
            <a:pPr algn="ctr">
              <a:defRPr sz="850">
                <a:solidFill>
                  <a:srgbClr val="64748B"/>
                </a:solidFill>
                <a:latin typeface="Calibri"/>
              </a:defRPr>
            </a:pPr>
            <a:r>
              <a:t>Lab Component Validation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417320"/>
            <a:ext cx="2496312" cy="9144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369A1"/>
                </a:solidFill>
                <a:latin typeface="Calibri"/>
              </a:defRPr>
            </a:pPr>
            <a:r>
              <a:t>★ TRL 6 VERIFIED ★</a:t>
            </a:r>
          </a:p>
          <a:p>
            <a:pPr algn="ctr">
              <a:defRPr sz="850">
                <a:solidFill>
                  <a:srgbClr val="0F172A"/>
                </a:solidFill>
                <a:latin typeface="Calibri"/>
              </a:defRPr>
            </a:pPr>
            <a:r>
              <a:t>Demonstrated Working Prototype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61120" y="1417320"/>
            <a:ext cx="2496312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4748B"/>
                </a:solidFill>
                <a:latin typeface="Calibri"/>
              </a:defRPr>
            </a:pPr>
            <a:r>
              <a:t>TRL 7 - 9</a:t>
            </a:r>
          </a:p>
          <a:p>
            <a:pPr algn="ctr">
              <a:defRPr sz="850">
                <a:solidFill>
                  <a:srgbClr val="64748B"/>
                </a:solidFill>
                <a:latin typeface="Calibri"/>
              </a:defRPr>
            </a:pPr>
            <a:r>
              <a:t>Clinical Trials &amp; Mainnet Deployment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2468880"/>
            <a:ext cx="5239512" cy="3566160"/>
          </a:xfrm>
          <a:prstGeom prst="roundRect">
            <a:avLst/>
          </a:prstGeom>
          <a:solidFill>
            <a:srgbClr val="F0FDFA"/>
          </a:solidFill>
          <a:ln w="1905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50" b="1">
                <a:solidFill>
                  <a:srgbClr val="4C9F38"/>
                </a:solidFill>
                <a:latin typeface="Calibri"/>
              </a:defRPr>
            </a:pPr>
            <a:r>
              <a:t>✓ TRL 6 VERIFIED DELIVERABLES</a:t>
            </a:r>
          </a:p>
          <a:p>
            <a:pPr>
              <a:defRPr sz="1050">
                <a:solidFill>
                  <a:srgbClr val="334155"/>
                </a:solidFill>
                <a:latin typeface="Calibri"/>
              </a:defRPr>
            </a:pPr>
            <a:r>
              <a:t>• Smart Contracts: MedicalRecord.sol deployed with 100% automated test coverage (11/11 Hardhat unit tests passing).</a:t>
            </a:r>
            <a:br/>
            <a:br/>
            <a:r>
              <a:t>• Cryptographic Pipeline: Client-side AES-256-GCM buffer encryption and IPFS pinning via Pinata live.</a:t>
            </a:r>
            <a:br/>
            <a:br/>
            <a:r>
              <a:t>• Role Portals: Production Web3 UI for Patients, Doctors, and Hospital Governance with MetaMask wallet syncing.</a:t>
            </a:r>
            <a:br/>
            <a:br/>
            <a:r>
              <a:t>• Enterprise Scaffolding: Monorepo with CI/CD automation, Docker orchestration, and RBAC middleware.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2468880"/>
            <a:ext cx="5239512" cy="3566160"/>
          </a:xfrm>
          <a:prstGeom prst="roundRect">
            <a:avLst/>
          </a:prstGeom>
          <a:solidFill>
            <a:srgbClr val="F0F9FF"/>
          </a:solidFill>
          <a:ln w="19050">
            <a:solidFill>
              <a:srgbClr val="BAE6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50" b="1">
                <a:solidFill>
                  <a:srgbClr val="0369A1"/>
                </a:solidFill>
                <a:latin typeface="Calibri"/>
              </a:defRPr>
            </a:pPr>
            <a:r>
              <a:t>➔ ROADMAP TO TRL 9 (COMMERCIAL CLINICAL)</a:t>
            </a:r>
          </a:p>
          <a:p>
            <a:pPr>
              <a:defRPr sz="1050">
                <a:solidFill>
                  <a:srgbClr val="334155"/>
                </a:solidFill>
                <a:latin typeface="Calibri"/>
              </a:defRPr>
            </a:pPr>
            <a:r>
              <a:t>• TRL 7 (Operational Sandbox): Multi-hospital sandbox testing with HL7 FHIR structured data and ERC-4337 Passkey relayers.</a:t>
            </a:r>
            <a:br/>
            <a:br/>
            <a:r>
              <a:t>• TRL 8 (System Qualification): Formal smart contract verification by CertiK/OpenZeppelin and HIPAA/GDPR certification.</a:t>
            </a:r>
            <a:br/>
            <a:br/>
            <a:r>
              <a:t>• TRL 9 (Full Clinical Deployment): Live production mainnet rollout across participating hospital networks and insurance nodes.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59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284C7"/>
                </a:solidFill>
                <a:latin typeface="Calibri"/>
              </a:defRPr>
            </a:pPr>
            <a:r>
              <a:t>COMPETITIVE DIFFERENTIATORS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72591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Calibri"/>
              </a:defRPr>
            </a:pPr>
            <a:r>
              <a:t>Novel Innovations Beyond Generic Student Demos</a:t>
            </a:r>
          </a:p>
          <a:p>
            <a:pPr>
              <a:defRPr sz="1100">
                <a:solidFill>
                  <a:srgbClr val="64748B"/>
                </a:solidFill>
                <a:latin typeface="Calibri"/>
              </a:defRPr>
            </a:pPr>
            <a:r>
              <a:t>Key cryptographic and architectural features solving real-world healthcare challenges.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0725912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6263640"/>
            <a:ext cx="10725912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327648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Calibri"/>
              </a:defRPr>
            </a:pPr>
            <a:r>
              <a:t>CareChain • Ashish Anil Sikaria (23BCI0218) • Guide: Prof. SELVI M • SCOPE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327648"/>
            <a:ext cx="368503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  <a:latin typeface="Calibri"/>
              </a:defRPr>
            </a:pPr>
            <a:r>
              <a:t>BCSE497J Project - I • Fall 2026-27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463040"/>
            <a:ext cx="5239512" cy="2057400"/>
          </a:xfrm>
          <a:prstGeom prst="roundRect">
            <a:avLst/>
          </a:prstGeom>
          <a:solidFill>
            <a:srgbClr val="FFF1F2"/>
          </a:solidFill>
          <a:ln w="19050">
            <a:solidFill>
              <a:srgbClr val="FECD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50" b="1">
                <a:solidFill>
                  <a:srgbClr val="0F172A"/>
                </a:solidFill>
                <a:latin typeface="Calibri"/>
              </a:defRPr>
            </a:pPr>
            <a:r>
              <a:t>Break-Glass Emergency Protocol</a:t>
            </a:r>
          </a:p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Solves the unconscious ER patient dilemma: Verified physicians trigger time-delayed cryptographic challenges or multi-guardian signatures backed by on-chain audit penalties.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463040"/>
            <a:ext cx="5239512" cy="205740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C7D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50" b="1">
                <a:solidFill>
                  <a:srgbClr val="0F172A"/>
                </a:solidFill>
                <a:latin typeface="Calibri"/>
              </a:defRPr>
            </a:pPr>
            <a:r>
              <a:t>Zero-Knowledge (ZK) Health Claims</a:t>
            </a:r>
          </a:p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zk-SNARK circuits allow patients to prove clinical trial or insurance eligibility (e.g. HbA1c &lt; 6.5%, age &gt; 18) without disclosing raw medical files or identity.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703320"/>
            <a:ext cx="5239512" cy="2057400"/>
          </a:xfrm>
          <a:prstGeom prst="roundRect">
            <a:avLst/>
          </a:prstGeom>
          <a:solidFill>
            <a:srgbClr val="F0F9FF"/>
          </a:solidFill>
          <a:ln w="19050">
            <a:solidFill>
              <a:srgbClr val="BAE6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50" b="1">
                <a:solidFill>
                  <a:srgbClr val="0F172A"/>
                </a:solidFill>
                <a:latin typeface="Calibri"/>
              </a:defRPr>
            </a:pPr>
            <a:r>
              <a:t>Gasless Account Abstraction (ERC-4337)</a:t>
            </a:r>
          </a:p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Replaces seed phrases and gas tokens with WebAuthn Passkeys (TouchID / FaceID), sponsored by hospital Paymaster relayers.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703320"/>
            <a:ext cx="5239512" cy="2057400"/>
          </a:xfrm>
          <a:prstGeom prst="roundRect">
            <a:avLst/>
          </a:prstGeom>
          <a:solidFill>
            <a:srgbClr val="F0FDFA"/>
          </a:solidFill>
          <a:ln w="1905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50" b="1">
                <a:solidFill>
                  <a:srgbClr val="0F172A"/>
                </a:solidFill>
                <a:latin typeface="Calibri"/>
              </a:defRPr>
            </a:pPr>
            <a:r>
              <a:t>Soulbound Tokens (SBTs - ERC-5192)</a:t>
            </a:r>
          </a:p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Non-transferable medical credentials minted by state medical boards. If a license is suspended, on-chain decryption permissions are instantly revoked.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59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284C7"/>
                </a:solidFill>
                <a:latin typeface="Calibri"/>
              </a:defRPr>
            </a:pPr>
            <a:r>
              <a:t>VALUE PROPOSITION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72591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Calibri"/>
              </a:defRPr>
            </a:pPr>
            <a:r>
              <a:t>Multi-Sided Healthcare Economic Proposition</a:t>
            </a:r>
          </a:p>
          <a:p>
            <a:pPr>
              <a:defRPr sz="1100">
                <a:solidFill>
                  <a:srgbClr val="64748B"/>
                </a:solidFill>
                <a:latin typeface="Calibri"/>
              </a:defRPr>
            </a:pPr>
            <a:r>
              <a:t>Creating tangible value for patients, clinicians, medical researchers, and insurance providers.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0725912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6263640"/>
            <a:ext cx="10725912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327648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Calibri"/>
              </a:defRPr>
            </a:pPr>
            <a:r>
              <a:t>CareChain • Ashish Anil Sikaria (23BCI0218) • Guide: Prof. SELVI M • SCOPE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327648"/>
            <a:ext cx="368503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  <a:latin typeface="Calibri"/>
              </a:defRPr>
            </a:pPr>
            <a:r>
              <a:t>BCSE497J Project - I • Fall 2026-27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463040"/>
            <a:ext cx="2496312" cy="4480560"/>
          </a:xfrm>
          <a:prstGeom prst="roundRect">
            <a:avLst/>
          </a:prstGeom>
          <a:solidFill>
            <a:srgbClr val="F0F9FF"/>
          </a:solidFill>
          <a:ln w="19050">
            <a:solidFill>
              <a:srgbClr val="BAE6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0F172A"/>
                </a:solidFill>
                <a:latin typeface="Calibri"/>
              </a:defRPr>
            </a:pPr>
            <a:r>
              <a:t>Patients</a:t>
            </a:r>
          </a:p>
          <a:p>
            <a:pPr algn="ctr">
              <a:defRPr sz="1150">
                <a:solidFill>
                  <a:srgbClr val="334155"/>
                </a:solidFill>
                <a:latin typeface="Calibri"/>
              </a:defRPr>
            </a:pPr>
            <a:br/>
            <a:r>
              <a:t>Complete data sovereignty, zero corporate exploitation, and seamless portable access across medical facilities.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0" y="1463040"/>
            <a:ext cx="2496312" cy="4480560"/>
          </a:xfrm>
          <a:prstGeom prst="roundRect">
            <a:avLst/>
          </a:prstGeom>
          <a:solidFill>
            <a:srgbClr val="F0FDFA"/>
          </a:solidFill>
          <a:ln w="1905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0F172A"/>
                </a:solidFill>
                <a:latin typeface="Calibri"/>
              </a:defRPr>
            </a:pPr>
            <a:r>
              <a:t>Clinicians</a:t>
            </a:r>
          </a:p>
          <a:p>
            <a:pPr algn="ctr">
              <a:defRPr sz="1150">
                <a:solidFill>
                  <a:srgbClr val="334155"/>
                </a:solidFill>
                <a:latin typeface="Calibri"/>
              </a:defRPr>
            </a:pPr>
            <a:br/>
            <a:r>
              <a:t>Instant verified medical histories, zero diagnostic redundancy, and reduced malpractice liability.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463040"/>
            <a:ext cx="2496312" cy="448056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C7D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0F172A"/>
                </a:solidFill>
                <a:latin typeface="Calibri"/>
              </a:defRPr>
            </a:pPr>
            <a:r>
              <a:t>Researchers</a:t>
            </a:r>
          </a:p>
          <a:p>
            <a:pPr algn="ctr">
              <a:defRPr sz="1150">
                <a:solidFill>
                  <a:srgbClr val="334155"/>
                </a:solidFill>
                <a:latin typeface="Calibri"/>
              </a:defRPr>
            </a:pPr>
            <a:br/>
            <a:r>
              <a:t>Opt-in Compute-to-Data research pools with automated cryptographic patient micro-rewards.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61120" y="1463040"/>
            <a:ext cx="2496312" cy="4480560"/>
          </a:xfrm>
          <a:prstGeom prst="roundRect">
            <a:avLst/>
          </a:prstGeom>
          <a:solidFill>
            <a:srgbClr val="FFFBEB"/>
          </a:solidFill>
          <a:ln w="19050">
            <a:solidFill>
              <a:srgbClr val="FDE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0F172A"/>
                </a:solidFill>
                <a:latin typeface="Calibri"/>
              </a:defRPr>
            </a:pPr>
            <a:r>
              <a:t>Insurers</a:t>
            </a:r>
          </a:p>
          <a:p>
            <a:pPr algn="ctr">
              <a:defRPr sz="1150">
                <a:solidFill>
                  <a:srgbClr val="334155"/>
                </a:solidFill>
                <a:latin typeface="Calibri"/>
              </a:defRPr>
            </a:pPr>
            <a:br/>
            <a:r>
              <a:t>Tamper-proof smart contract claims verification, eliminating fraudulent billing and administrative overhead.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59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284C7"/>
                </a:solidFill>
                <a:latin typeface="Calibri"/>
              </a:defRPr>
            </a:pPr>
            <a:r>
              <a:t>SYSTEM SHOWCASE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72591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Calibri"/>
              </a:defRPr>
            </a:pPr>
            <a:r>
              <a:t>Functional Prototype Demonstration &amp; Core Modules</a:t>
            </a:r>
          </a:p>
          <a:p>
            <a:pPr>
              <a:defRPr sz="1100">
                <a:solidFill>
                  <a:srgbClr val="64748B"/>
                </a:solidFill>
                <a:latin typeface="Calibri"/>
              </a:defRPr>
            </a:pPr>
            <a:r>
              <a:t>Full-stack role-based architecture operating live on localhost with MetaMask.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0725912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6263640"/>
            <a:ext cx="10725912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327648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Calibri"/>
              </a:defRPr>
            </a:pPr>
            <a:r>
              <a:t>CareChain • Ashish Anil Sikaria (23BCI0218) • Guide: Prof. SELVI M • SCOPE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327648"/>
            <a:ext cx="368503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  <a:latin typeface="Calibri"/>
              </a:defRPr>
            </a:pPr>
            <a:r>
              <a:t>BCSE497J Project - I • Fall 2026-27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463040"/>
            <a:ext cx="5239512" cy="2057400"/>
          </a:xfrm>
          <a:prstGeom prst="roundRect">
            <a:avLst/>
          </a:prstGeom>
          <a:solidFill>
            <a:srgbClr val="F0F9FF"/>
          </a:solidFill>
          <a:ln w="19050">
            <a:solidFill>
              <a:srgbClr val="BAE6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0F172A"/>
                </a:solidFill>
                <a:latin typeface="Calibri"/>
              </a:defRPr>
            </a:pPr>
            <a:r>
              <a:t>Patient Health Vault</a:t>
            </a:r>
          </a:p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Client-side AES-256 file encryption, IPFS pinning via Pinata, and toggleable doctor access control matrix.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463040"/>
            <a:ext cx="5239512" cy="2057400"/>
          </a:xfrm>
          <a:prstGeom prst="roundRect">
            <a:avLst/>
          </a:prstGeom>
          <a:solidFill>
            <a:srgbClr val="F0FDFA"/>
          </a:solidFill>
          <a:ln w="1905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0F172A"/>
                </a:solidFill>
                <a:latin typeface="Calibri"/>
              </a:defRPr>
            </a:pPr>
            <a:r>
              <a:t>Practitioner Portal</a:t>
            </a:r>
          </a:p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Authorized patient EHR lookup, verified clinical diagnostic report uploads, and digital prescription issuance.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703320"/>
            <a:ext cx="5239512" cy="205740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C7D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0F172A"/>
                </a:solidFill>
                <a:latin typeface="Calibri"/>
              </a:defRPr>
            </a:pPr>
            <a:r>
              <a:t>Hospital Governance</a:t>
            </a:r>
          </a:p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Practitioner license verification, smart contract telemetry, and HIPAA audit trail log exports.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703320"/>
            <a:ext cx="5239512" cy="2057400"/>
          </a:xfrm>
          <a:prstGeom prst="roundRect">
            <a:avLst/>
          </a:prstGeom>
          <a:solidFill>
            <a:srgbClr val="FFFBEB"/>
          </a:solidFill>
          <a:ln w="19050">
            <a:solidFill>
              <a:srgbClr val="FDE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0F172A"/>
                </a:solidFill>
                <a:latin typeface="Calibri"/>
              </a:defRPr>
            </a:pPr>
            <a:r>
              <a:t>Web3 Wallet Layer</a:t>
            </a:r>
          </a:p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Direct MetaMask provider integration alongside off-chain fallback simulation modes for zero-friction evaluation.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640080"/>
            <a:ext cx="10058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369A1"/>
                </a:solidFill>
                <a:latin typeface="Calibri"/>
              </a:defRPr>
            </a:pPr>
            <a:r>
              <a:t>CONCLUSION &amp; PROJECT DEFENSE</a:t>
            </a:r>
          </a:p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CareChain: Redefining Sovereign Healthcare</a:t>
            </a:r>
          </a:p>
          <a:p>
            <a:pPr>
              <a:defRPr sz="1150">
                <a:solidFill>
                  <a:srgbClr val="64748B"/>
                </a:solidFill>
                <a:latin typeface="Calibri"/>
              </a:defRPr>
            </a:pPr>
            <a:r>
              <a:t>CareChain delivers a verified, production-grade protocol for patient-governed electronic health records. Validated with 100% automated test coverage, zero-trust cryptographic security, and mapped against UN SDGs and TRL progression.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2468880"/>
            <a:ext cx="10058400" cy="36576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371600" y="2743200"/>
            <a:ext cx="457200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50" b="1">
                <a:solidFill>
                  <a:srgbClr val="64748B"/>
                </a:solidFill>
                <a:latin typeface="Calibri"/>
              </a:defRPr>
            </a:pPr>
            <a:r>
              <a:t>CANDIDATE NAME</a:t>
            </a:r>
          </a:p>
          <a:p>
            <a:pPr>
              <a:defRPr sz="1250" b="1">
                <a:solidFill>
                  <a:srgbClr val="0F172A"/>
                </a:solidFill>
                <a:latin typeface="Calibri"/>
              </a:defRPr>
            </a:pPr>
            <a:r>
              <a:t>Ashish Anil Sikaria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2743200"/>
            <a:ext cx="457200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50" b="1">
                <a:solidFill>
                  <a:srgbClr val="64748B"/>
                </a:solidFill>
                <a:latin typeface="Calibri"/>
              </a:defRPr>
            </a:pPr>
            <a:r>
              <a:t>REGISTER NUMBER</a:t>
            </a:r>
          </a:p>
          <a:p>
            <a:pPr>
              <a:defRPr sz="1250" b="1">
                <a:solidFill>
                  <a:srgbClr val="0369A1"/>
                </a:solidFill>
                <a:latin typeface="Calibri"/>
              </a:defRPr>
            </a:pPr>
            <a:r>
              <a:t>23BCI0218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71600" y="3794760"/>
            <a:ext cx="457200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50" b="1">
                <a:solidFill>
                  <a:srgbClr val="64748B"/>
                </a:solidFill>
                <a:latin typeface="Calibri"/>
              </a:defRPr>
            </a:pPr>
            <a:r>
              <a:t>COURSE &amp; SEMESTER</a:t>
            </a:r>
          </a:p>
          <a:p>
            <a:pPr>
              <a:defRPr sz="1250" b="1">
                <a:solidFill>
                  <a:srgbClr val="0F172A"/>
                </a:solidFill>
                <a:latin typeface="Calibri"/>
              </a:defRPr>
            </a:pPr>
            <a:r>
              <a:t>BCSE497J (Project - I) • Fall 2026-27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3794760"/>
            <a:ext cx="457200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50" b="1">
                <a:solidFill>
                  <a:srgbClr val="64748B"/>
                </a:solidFill>
                <a:latin typeface="Calibri"/>
              </a:defRPr>
            </a:pPr>
            <a:r>
              <a:t>FACULTY GUIDE</a:t>
            </a:r>
          </a:p>
          <a:p>
            <a:pPr>
              <a:defRPr sz="1250" b="1">
                <a:solidFill>
                  <a:srgbClr val="0369A1"/>
                </a:solidFill>
                <a:latin typeface="Calibri"/>
              </a:defRPr>
            </a:pPr>
            <a:r>
              <a:t>Prof. SELVI M (Emp ID: 16106)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0" y="4846320"/>
            <a:ext cx="457200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50" b="1">
                <a:solidFill>
                  <a:srgbClr val="64748B"/>
                </a:solidFill>
                <a:latin typeface="Calibri"/>
              </a:defRPr>
            </a:pPr>
            <a:r>
              <a:t>ACADEMIC SCHOOL</a:t>
            </a:r>
          </a:p>
          <a:p>
            <a:pPr>
              <a:defRPr sz="1250" b="1">
                <a:solidFill>
                  <a:srgbClr val="0F172A"/>
                </a:solidFill>
                <a:latin typeface="Calibri"/>
              </a:defRPr>
            </a:pPr>
            <a:r>
              <a:t>SCOPE (School of Computer Science &amp; Eng.)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4846320"/>
            <a:ext cx="457200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50" b="1">
                <a:solidFill>
                  <a:srgbClr val="64748B"/>
                </a:solidFill>
                <a:latin typeface="Calibri"/>
              </a:defRPr>
            </a:pPr>
            <a:r>
              <a:t>PROJECT STATUS</a:t>
            </a:r>
          </a:p>
          <a:p>
            <a:pPr>
              <a:defRPr sz="1250" b="1">
                <a:solidFill>
                  <a:srgbClr val="4C9F38"/>
                </a:solidFill>
                <a:latin typeface="Calibri"/>
              </a:defRPr>
            </a:pPr>
            <a:r>
              <a:t>Registered &amp; Approved by Guide (TRL 6)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