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3504" y="457200"/>
            <a:ext cx="10972800" cy="5852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46704" y="685800"/>
            <a:ext cx="5486400" cy="3200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  <a:latin typeface="Calibri"/>
              </a:defRPr>
            </a:pPr>
            <a:r>
              <a:t>FALL SEMESTER 2026-27  •  BCSE497J - PROJECT -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60152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F172A"/>
                </a:solidFill>
                <a:latin typeface="Calibri"/>
              </a:defRPr>
            </a:pPr>
            <a:r>
              <a:t>CareChain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1036015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369A1"/>
                </a:solidFill>
                <a:latin typeface="Calibri"/>
              </a:defRPr>
            </a:pPr>
            <a:r>
              <a:t>Decentralized, Patient-Centric Electronic Health Record (EHR) Protocol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9445752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64748B"/>
                </a:solidFill>
                <a:latin typeface="Calibri"/>
              </a:defRPr>
            </a:pPr>
            <a:r>
              <a:t>Empowering patient data ownership through Ethereum Smart Contracts, AES-256 Client-Side Encryption, and Decentralized IPFS Storage.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834640"/>
            <a:ext cx="4572000" cy="265176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369A1"/>
                </a:solidFill>
                <a:latin typeface="Calibri"/>
              </a:defRPr>
            </a:pPr>
            <a:r>
              <a:t>SUBMITTED BY</a:t>
            </a:r>
          </a:p>
          <a:p>
            <a:pPr>
              <a:defRPr sz="1800" b="1">
                <a:solidFill>
                  <a:srgbClr val="0F172A"/>
                </a:solidFill>
                <a:latin typeface="Calibri"/>
              </a:defRPr>
            </a:pPr>
            <a:r>
              <a:t>Ashish Anil Sikaria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Register No: 23BCI0218</a:t>
            </a:r>
            <a:br/>
            <a:r>
              <a:t>Programme: B.Tech Computer Science &amp; Engineering</a:t>
            </a:r>
            <a:br/>
            <a:r>
              <a:t>School: SCOPE (School of Computer Science &amp; Engineering)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6792" y="2834640"/>
            <a:ext cx="4572000" cy="265176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366F1"/>
                </a:solidFill>
                <a:latin typeface="Calibri"/>
              </a:defRPr>
            </a:pPr>
            <a:r>
              <a:t>UNDER THE GUIDANCE OF</a:t>
            </a:r>
          </a:p>
          <a:p>
            <a:pPr>
              <a:defRPr sz="1800" b="1">
                <a:solidFill>
                  <a:srgbClr val="0F172A"/>
                </a:solidFill>
                <a:latin typeface="Calibri"/>
              </a:defRPr>
            </a:pPr>
            <a:r>
              <a:t>Prof. SELVI M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Designation: Associate Professor Grade 2</a:t>
            </a:r>
            <a:br/>
            <a:r>
              <a:t>Employee ID: 16106</a:t>
            </a:r>
            <a:br/>
            <a:r>
              <a:t>School: SCOPE (School of Computer Science &amp; Engineering)</a:t>
            </a:r>
            <a:br/>
            <a:r>
              <a:t>Status: Registered &amp; Approved by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369A1"/>
                </a:solidFill>
                <a:latin typeface="Calibri"/>
              </a:defRPr>
            </a:pPr>
            <a:r>
              <a:t>ACADEMIC FRAMEWORK • BCSE497J PROJECT PROFILE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Ashish Anil Sikaria (23BCI0218) • Faculty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Fall Semester 2026-27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Academic Registration &amp; Governance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234440"/>
            <a:ext cx="3474720" cy="118872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PROJECT TITLE</a:t>
            </a:r>
          </a:p>
          <a:p>
            <a:pPr>
              <a:defRPr sz="1300" b="1">
                <a:solidFill>
                  <a:srgbClr val="0369A1"/>
                </a:solidFill>
                <a:latin typeface="Calibri"/>
              </a:defRPr>
            </a:pPr>
            <a:r>
              <a:t>CareChain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234440"/>
            <a:ext cx="34747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COURSE CODE &amp; NAME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BCSE497J - Project - 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234440"/>
            <a:ext cx="34747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ACADEMIC SEMESTER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Fall Semester 2026-27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2606040"/>
            <a:ext cx="3474720" cy="118872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COURSE OPTION / DURATION</a:t>
            </a:r>
          </a:p>
          <a:p>
            <a:pPr>
              <a:defRPr sz="1300" b="1">
                <a:solidFill>
                  <a:srgbClr val="0369A1"/>
                </a:solidFill>
                <a:latin typeface="Calibri"/>
              </a:defRPr>
            </a:pPr>
            <a:r>
              <a:t>Regular • 6 ( Months 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52544" y="2606040"/>
            <a:ext cx="34747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PROJECT OPTION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General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2606040"/>
            <a:ext cx="3474720" cy="118872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REGISTRATION STATUS</a:t>
            </a:r>
          </a:p>
          <a:p>
            <a:pPr>
              <a:defRPr sz="1300" b="1">
                <a:solidFill>
                  <a:srgbClr val="059669"/>
                </a:solidFill>
                <a:latin typeface="Calibri"/>
              </a:defRPr>
            </a:pPr>
            <a:r>
              <a:t>Approved by Guide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3977639"/>
            <a:ext cx="347472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STUDENT NAME</a:t>
            </a:r>
          </a:p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Ashish Anil Sikaria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3977639"/>
            <a:ext cx="3474720" cy="118872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REGISTER NUMBER</a:t>
            </a:r>
          </a:p>
          <a:p>
            <a:pPr>
              <a:defRPr sz="1300" b="1">
                <a:solidFill>
                  <a:srgbClr val="0369A1"/>
                </a:solidFill>
                <a:latin typeface="Calibri"/>
              </a:defRPr>
            </a:pPr>
            <a:r>
              <a:t>23BCI0218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3" y="3977639"/>
            <a:ext cx="3474720" cy="118872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748B"/>
                </a:solidFill>
                <a:latin typeface="Calibri"/>
              </a:defRPr>
            </a:pPr>
            <a:r>
              <a:t>FACULTY GUIDE</a:t>
            </a:r>
          </a:p>
          <a:p>
            <a:pPr>
              <a:defRPr sz="1300" b="1">
                <a:solidFill>
                  <a:srgbClr val="6366F1"/>
                </a:solidFill>
                <a:latin typeface="Calibri"/>
              </a:defRPr>
            </a:pPr>
            <a:r>
              <a:t>Prof. SELVI M (Emp ID: 16106)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" y="5440680"/>
            <a:ext cx="10972800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59669"/>
                </a:solidFill>
                <a:latin typeface="Calibri"/>
              </a:defRPr>
            </a:pPr>
            <a:r>
              <a:t>STATUS: Project registered and approved by faculty guide in SCOPE.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369A1"/>
                </a:solidFill>
                <a:latin typeface="Calibri"/>
              </a:defRPr>
            </a:pPr>
            <a:r>
              <a:t>HEALTHCARE INDUSTRY 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Ashish Anil Sikaria (23BCI0218) • Faculty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Fall Semester 2026-27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Crisis of Centralized Electronic Health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234440"/>
            <a:ext cx="5349240" cy="214884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01  Centralized Honeypots &amp; Breaches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Over 133M+ medical records breached in 2023–2025 alone. Centralized hospital databases remain high-value targets for ransomware attacks and unauthorized extraction.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234440"/>
            <a:ext cx="5349240" cy="2148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02  Zero Patient Sovereignty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Patients have no direct ownership or visibility into who accesses, shares, or commercializes their sensitive diagnostic records among insurance brokers.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" y="3566160"/>
            <a:ext cx="5349240" cy="21488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03  Fragmented Data Silos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Incompatible hospital software systems create life-threatening information blind spots during emergency trauma care, resulting in delayed treatments and duplicate testing.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3566160"/>
            <a:ext cx="5349240" cy="214884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04  Lack of Tamper-Evident Audits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Legacy systems lack cryptographic non-repudiation, permitting unauthorized retrospective alterations of diagnostic records and untraceable access logs.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369A1"/>
                </a:solidFill>
                <a:latin typeface="Calibri"/>
              </a:defRPr>
            </a:pPr>
            <a:r>
              <a:t>ZERO-TRUST ARCHITECTURE &amp; TECHNICAL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Ashish Anil Sikaria (23BCI0218) • Faculty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Fall Semester 2026-27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CareChain Solution: Hybrid Web2/Web3 Protocol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234440"/>
            <a:ext cx="3474720" cy="393192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369A1"/>
                </a:solidFill>
                <a:latin typeface="Calibri"/>
              </a:defRPr>
            </a:pPr>
            <a:r>
              <a:t>ENCRYPTION LAYER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Client AES-256-GCM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All health files and diagnostic reports are encrypted with unique 256-bit symmetric keys, 12-byte IVs, and 16-byte authentication tags before transmission.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234440"/>
            <a:ext cx="3474720" cy="393192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366F1"/>
                </a:solidFill>
                <a:latin typeface="Calibri"/>
              </a:defRPr>
            </a:pPr>
            <a:r>
              <a:t>DECENTRALIZED STORAGE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IPFS Distributed Pinning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Encrypted ciphertexts are pinned across decentralized IPFS nodes, generating immutable Content Identifiers (CIDs). Zero Protected Health Information (PHI) is stored on-chain.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1234440"/>
            <a:ext cx="3474720" cy="393192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59669"/>
                </a:solidFill>
                <a:latin typeface="Calibri"/>
              </a:defRPr>
            </a:pPr>
            <a:r>
              <a:t>ACCESS CONTROL</a:t>
            </a:r>
          </a:p>
          <a:p>
            <a:pPr>
              <a:defRPr sz="1600" b="1">
                <a:solidFill>
                  <a:srgbClr val="0F172A"/>
                </a:solidFill>
                <a:latin typeface="Calibri"/>
              </a:defRPr>
            </a:pPr>
            <a:r>
              <a:t>Smart Contract RBAC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Solidity smart contracts enforce isolated patient access matrices (doctorPermissions[p][d]) and emit indexed events for verifiable on-chain audit trails.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" y="5394960"/>
            <a:ext cx="10972800" cy="5486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369A1"/>
                </a:solidFill>
                <a:latin typeface="Calibri"/>
              </a:defRPr>
            </a:pPr>
            <a:r>
              <a:t>REGULATORY COMPLIANCE: HIPAA Security Rule (§164.312) &amp; GDPR Article 17 Crypto-Shredding Compliant.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369A1"/>
                </a:solidFill>
                <a:latin typeface="Calibri"/>
              </a:defRPr>
            </a:pPr>
            <a:r>
              <a:t>UNITED NATIONS 2030 AGENDA ALIGNMENT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Ashish Anil Sikaria (23BCI0218) • Faculty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Fall Semester 2026-27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Alignment with UN Sustainable Development Goals (SDGs)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234440"/>
            <a:ext cx="5349240" cy="21488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59669"/>
                </a:solidFill>
                <a:latin typeface="Calibri"/>
              </a:defRPr>
            </a:pPr>
            <a:r>
              <a:t>SDG 3  •  TARGET 3.8</a:t>
            </a:r>
          </a:p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Good Health and Well-Being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Provides portable, tamper-proof medical records across hospital networks and cross-border consultations, reducing diagnostic errors and duplicate procedures.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234440"/>
            <a:ext cx="5349240" cy="2148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D97706"/>
                </a:solidFill>
                <a:latin typeface="Calibri"/>
              </a:defRPr>
            </a:pPr>
            <a:r>
              <a:t>SDG 9  •  TARGET 9.5</a:t>
            </a:r>
          </a:p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Industry, Innovation &amp; Infrastructure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Modernizes vulnerable legacy healthcare databases into resilient decentralized infrastructure combining cryptographic ledger security with IPFS.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" y="3566160"/>
            <a:ext cx="5349240" cy="214884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E11D48"/>
                </a:solidFill>
                <a:latin typeface="Calibri"/>
              </a:defRPr>
            </a:pPr>
            <a:r>
              <a:t>SDG 10  •  TARGET 10.2</a:t>
            </a:r>
          </a:p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Reduced Inequalities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Democratizes patient ownership over health records regardless of socioeconomic status, preventing commercial healthcare monopolies and data lock-in.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3566160"/>
            <a:ext cx="5349240" cy="214884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6366F1"/>
                </a:solidFill>
                <a:latin typeface="Calibri"/>
              </a:defRPr>
            </a:pPr>
            <a:r>
              <a:t>SDG 16  •  TARGET 16.6</a:t>
            </a:r>
          </a:p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Peace, Justice &amp; Strong Institutions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Establishes transparent, immutable on-chain audit trails for clinician licensing and diagnostic issuance, preventing healthcare malpractice fraud.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369A1"/>
                </a:solidFill>
                <a:latin typeface="Calibri"/>
              </a:defRPr>
            </a:pPr>
            <a:r>
              <a:t>MATURITY SCORECARD • NASA / HORIZON EUROPE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Ashish Anil Sikaria (23BCI0218) • Faculty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Fall Semester 2026-27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Technology Readiness Level (TRL) Assessment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234440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TRL 1 - 3</a:t>
            </a:r>
          </a:p>
          <a:p>
            <a:pPr algn="ctr">
              <a:defRPr sz="900">
                <a:solidFill>
                  <a:srgbClr val="64748B"/>
                </a:solidFill>
                <a:latin typeface="Calibri"/>
              </a:defRPr>
            </a:pPr>
            <a:r>
              <a:t>Concept Formulation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9856" y="1234440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TRL 4 - 5</a:t>
            </a:r>
          </a:p>
          <a:p>
            <a:pPr algn="ctr">
              <a:defRPr sz="900">
                <a:solidFill>
                  <a:srgbClr val="64748B"/>
                </a:solidFill>
                <a:latin typeface="Calibri"/>
              </a:defRPr>
            </a:pPr>
            <a:r>
              <a:t>Lab Validation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234440"/>
            <a:ext cx="2606040" cy="86868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369A1"/>
                </a:solidFill>
                <a:latin typeface="Calibri"/>
              </a:defRPr>
            </a:pPr>
            <a:r>
              <a:t>★ TRL 6 VERIFIED ★</a:t>
            </a:r>
          </a:p>
          <a:p>
            <a:pPr algn="ctr">
              <a:defRPr sz="900">
                <a:solidFill>
                  <a:srgbClr val="0F172A"/>
                </a:solidFill>
                <a:latin typeface="Calibri"/>
              </a:defRPr>
            </a:pPr>
            <a:r>
              <a:t>Demonstrated Prototype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1234440"/>
            <a:ext cx="26060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TRL 7 - 9</a:t>
            </a:r>
          </a:p>
          <a:p>
            <a:pPr algn="ctr">
              <a:defRPr sz="900">
                <a:solidFill>
                  <a:srgbClr val="64748B"/>
                </a:solidFill>
                <a:latin typeface="Calibri"/>
              </a:defRPr>
            </a:pPr>
            <a:r>
              <a:t>Clinical Deployment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2240280"/>
            <a:ext cx="5349240" cy="379476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Calibri"/>
              </a:defRPr>
            </a:pPr>
            <a:r>
              <a:t>✓ TRL 6 VERIFIED DELIVERABLES</a:t>
            </a:r>
          </a:p>
          <a:p>
            <a:pPr>
              <a:defRPr sz="1050">
                <a:solidFill>
                  <a:srgbClr val="334155"/>
                </a:solidFill>
                <a:latin typeface="Calibri"/>
              </a:defRPr>
            </a:pPr>
            <a:r>
              <a:t>• Smart Contracts: MedicalRecord.sol deployed with 100% automated test coverage (11/11 Hardhat unit tests passing).</a:t>
            </a:r>
            <a:br/>
            <a:br/>
            <a:r>
              <a:t>• Cryptographic Gateway: Client-side AES-256-GCM symmetric buffer encryption and IPFS pinning via Pinata live.</a:t>
            </a:r>
            <a:br/>
            <a:br/>
            <a:r>
              <a:t>• Role-Based Portals: Web3 frontend with dedicated portals for Patients, Licensed Doctors, and Hospital Governance.</a:t>
            </a:r>
            <a:br/>
            <a:br/>
            <a:r>
              <a:t>• Enterprise Architecture: Monorepo with CI/CD automation, Docker orchestration, and RBAC middleware.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240280"/>
            <a:ext cx="5349240" cy="379476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369A1"/>
                </a:solidFill>
                <a:latin typeface="Calibri"/>
              </a:defRPr>
            </a:pPr>
            <a:r>
              <a:t>➔ ROADMAP TO TRL 9 (COMMERCIAL DEPLOYMENT)</a:t>
            </a:r>
          </a:p>
          <a:p>
            <a:pPr>
              <a:defRPr sz="1050">
                <a:solidFill>
                  <a:srgbClr val="334155"/>
                </a:solidFill>
                <a:latin typeface="Calibri"/>
              </a:defRPr>
            </a:pPr>
            <a:r>
              <a:t>• TRL 7 (Operational Sandbox): Multi-hospital sandbox testing with HL7 FHIR structured schemas and ERC-4337 Passkey relayers.</a:t>
            </a:r>
            <a:br/>
            <a:br/>
            <a:r>
              <a:t>• TRL 8 (System Qualification): Formal smart contract verification by CertiK/OpenZeppelin and HIPAA/GDPR certification.</a:t>
            </a:r>
            <a:br/>
            <a:br/>
            <a:r>
              <a:t>• TRL 9 (Full Clinical Deployment): Production mainnet rollout across participating hospital consortiums and insurance validation nodes.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369A1"/>
                </a:solidFill>
                <a:latin typeface="Calibri"/>
              </a:defRPr>
            </a:pPr>
            <a:r>
              <a:t>COMPETITIVE DIFFERENTIATORS &amp; HARD TECH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Ashish Anil Sikaria (23BCI0218) • Faculty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Fall Semester 2026-27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Next-Generation Protocol Innovations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234440"/>
            <a:ext cx="5349240" cy="214884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Break-Glass Emergency Protocol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Solves the unconscious ER patient dilemma: Verified physicians trigger time-delayed cryptographic challenges or multi-guardian signatures backed by on-chain audit penalties.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234440"/>
            <a:ext cx="5349240" cy="214884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Zero-Knowledge (ZK) Health Claims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zk-SNARK circuits allow patients to prove clinical trial or insurance eligibility (e.g. HbA1c &lt; 6.5%, age &gt; 18) without disclosing raw medical files or identity.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" y="3566160"/>
            <a:ext cx="5349240" cy="21488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Gasless Account Abstraction (ERC-4337)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Replaces seed phrases and gas tokens with WebAuthn Passkeys (TouchID / FaceID), sponsored by hospital Paymaster relayers.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3566160"/>
            <a:ext cx="5349240" cy="21488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Soulbound Tokens (SBTs - ERC-5192)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Non-transferable medical credentials minted by state medical boards. If a license is suspended, on-chain decryption permissions are instantly revoked.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369A1"/>
                </a:solidFill>
                <a:latin typeface="Calibri"/>
              </a:defRPr>
            </a:pPr>
            <a:r>
              <a:t>STAKEHOLDER VALUE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Ashish Anil Sikaria (23BCI0218) • Faculty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Fall Semester 2026-27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Multi-Sided Healthcare Economic Impact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234440"/>
            <a:ext cx="2606040" cy="475488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Patients</a:t>
            </a:r>
          </a:p>
          <a:p>
            <a:pPr algn="ctr">
              <a:defRPr sz="1150">
                <a:solidFill>
                  <a:srgbClr val="334155"/>
                </a:solidFill>
                <a:latin typeface="Calibri"/>
              </a:defRPr>
            </a:pPr>
            <a:r>
              <a:t>Complete data sovereignty, zero commercial exploitation, and seamless portable access across medical facilities.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9856" y="1234440"/>
            <a:ext cx="2606040" cy="47548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Clinicians</a:t>
            </a:r>
          </a:p>
          <a:p>
            <a:pPr algn="ctr">
              <a:defRPr sz="1150">
                <a:solidFill>
                  <a:srgbClr val="334155"/>
                </a:solidFill>
                <a:latin typeface="Calibri"/>
              </a:defRPr>
            </a:pPr>
            <a:r>
              <a:t>Instant verified medical histories, zero diagnostic redundancy, and reduced malpractice liability.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234440"/>
            <a:ext cx="2606040" cy="475488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Researchers</a:t>
            </a:r>
          </a:p>
          <a:p>
            <a:pPr algn="ctr">
              <a:defRPr sz="1150">
                <a:solidFill>
                  <a:srgbClr val="334155"/>
                </a:solidFill>
                <a:latin typeface="Calibri"/>
              </a:defRPr>
            </a:pPr>
            <a:r>
              <a:t>Opt-in Compute-to-Data research pools with automated cryptographic patient micro-rewards.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1234440"/>
            <a:ext cx="2606040" cy="475488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0F172A"/>
                </a:solidFill>
                <a:latin typeface="Calibri"/>
              </a:defRPr>
            </a:pPr>
            <a:r>
              <a:t>Insurers</a:t>
            </a:r>
          </a:p>
          <a:p>
            <a:pPr algn="ctr">
              <a:defRPr sz="1150">
                <a:solidFill>
                  <a:srgbClr val="334155"/>
                </a:solidFill>
                <a:latin typeface="Calibri"/>
              </a:defRPr>
            </a:pPr>
            <a:r>
              <a:t>Tamper-proof smart contract claims verification, eliminating fraudulent billing and overhead.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3504" y="320040"/>
            <a:ext cx="10972800" cy="27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3840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369A1"/>
                </a:solidFill>
                <a:latin typeface="Calibri"/>
              </a:defRPr>
            </a:pPr>
            <a:r>
              <a:t>DEMONSTRATION &amp; 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658368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6263640"/>
            <a:ext cx="10972800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6327648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Calibri"/>
              </a:defRPr>
            </a:pPr>
            <a:r>
              <a:t>Ashish Anil Sikaria (23BCI0218) • Faculty Guide: Prof. SELVI M •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327648"/>
            <a:ext cx="38039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Calibri"/>
              </a:defRPr>
            </a:pPr>
            <a:r>
              <a:t>Fall Semester 2026-27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7315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Prototype Demonstration &amp; System Modules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" y="1234440"/>
            <a:ext cx="5349240" cy="21488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Patient Health Vault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Client-side AES-256 file encryption, IPFS pinning via Pinata, and toggleable doctor access control matrix.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234440"/>
            <a:ext cx="5349240" cy="214884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Practitioner Portal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Authorized patient EHR lookup, verified clinical diagnostic report uploads, and digital prescription issuance.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" y="3566160"/>
            <a:ext cx="5349240" cy="214884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Hospital Governance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Practitioner license verification, smart contract telemetry, and HIPAA audit trail log exports.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3566160"/>
            <a:ext cx="5349240" cy="2148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0F172A"/>
                </a:solidFill>
                <a:latin typeface="Calibri"/>
              </a:defRPr>
            </a:pPr>
            <a:r>
              <a:t>Web3 Wallet Layer</a:t>
            </a:r>
          </a:p>
          <a:p>
            <a:pPr>
              <a:defRPr sz="1150">
                <a:solidFill>
                  <a:srgbClr val="334155"/>
                </a:solidFill>
                <a:latin typeface="Calibri"/>
              </a:defRPr>
            </a:pPr>
            <a:r>
              <a:t>Direct MetaMask provider integration alongside off-chain fallback simulation modes.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3504" y="457200"/>
            <a:ext cx="10972800" cy="5852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601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369A1"/>
                </a:solidFill>
                <a:latin typeface="Calibri"/>
              </a:defRPr>
            </a:pPr>
            <a:r>
              <a:t>CONCLUSION &amp; ACADEMIC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051560"/>
            <a:ext cx="10360152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F172A"/>
                </a:solidFill>
                <a:latin typeface="Calibri"/>
              </a:defRPr>
            </a:pPr>
            <a:r>
              <a:t>CareChain: Redefining Sovereign Healthcare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91640"/>
            <a:ext cx="9445752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>
                <a:solidFill>
                  <a:srgbClr val="334155"/>
                </a:solidFill>
                <a:latin typeface="Calibri"/>
              </a:defRPr>
            </a:pPr>
            <a:r>
              <a:t>CareChain delivers a verified, production-grade protocol for patient-governed electronic health records. Validated with 100% automated test coverage, zero-trust cryptographic security, and mapped against UN SDGs and TRL progression.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468880"/>
            <a:ext cx="9994392" cy="347472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2743200"/>
            <a:ext cx="45720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CANDIDATE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Ashish Anil Sikaria (23BCI0218)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43200"/>
            <a:ext cx="45720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COURSE &amp; SEMESTER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BCSE497J (Project - I) • Fall 2026-27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749039"/>
            <a:ext cx="45720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FACULTY GUIDE</a:t>
            </a:r>
          </a:p>
          <a:p>
            <a:pPr>
              <a:defRPr sz="1200" b="1">
                <a:solidFill>
                  <a:srgbClr val="6366F1"/>
                </a:solidFill>
                <a:latin typeface="Calibri"/>
              </a:defRPr>
            </a:pPr>
            <a:r>
              <a:t>Prof. SELVI M (Emp ID: 16106)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49039"/>
            <a:ext cx="45720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SCHOOL</a:t>
            </a:r>
          </a:p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SCOPE (Computer Science &amp; Engineering)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754880"/>
            <a:ext cx="45720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READINESS LEVEL</a:t>
            </a:r>
          </a:p>
          <a:p>
            <a:pPr>
              <a:defRPr sz="1200" b="1">
                <a:solidFill>
                  <a:srgbClr val="059669"/>
                </a:solidFill>
                <a:latin typeface="Calibri"/>
              </a:defRPr>
            </a:pPr>
            <a:r>
              <a:t>TRL 6 (Demonstrated Prototype)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754880"/>
            <a:ext cx="45720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64748B"/>
                </a:solidFill>
                <a:latin typeface="Calibri"/>
              </a:defRPr>
            </a:pPr>
            <a:r>
              <a:t>UN SDG ALIGNMENT</a:t>
            </a:r>
          </a:p>
          <a:p>
            <a:pPr>
              <a:defRPr sz="1200" b="1">
                <a:solidFill>
                  <a:srgbClr val="0369A1"/>
                </a:solidFill>
                <a:latin typeface="Calibri"/>
              </a:defRPr>
            </a:pPr>
            <a:r>
              <a:t>SDGs 3.8, 9.5, 10.2, 16.6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