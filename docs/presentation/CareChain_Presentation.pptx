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2296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369A1"/>
                </a:solidFill>
                <a:latin typeface="Calibri"/>
              </a:defRPr>
            </a:pPr>
            <a:r>
              <a:t>FALL SEMESTER 2026-27  •  BCSE497J - PROJECT - I  • 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0F172A"/>
                </a:solidFill>
                <a:latin typeface="Calibri"/>
              </a:defRPr>
            </a:pPr>
            <a:r>
              <a:t>CareChain</a:t>
            </a:r>
          </a:p>
          <a:p>
            <a:pPr>
              <a:defRPr sz="1800" b="1">
                <a:solidFill>
                  <a:srgbClr val="0284C7"/>
                </a:solidFill>
                <a:latin typeface="Calibri"/>
              </a:defRPr>
            </a:pPr>
            <a:r>
              <a:t>Decentralized, Patient-Centric Electronic Health Record Protocol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Empowering patient data sovereignty through Ethereum Smart Contracts, AES-256 Client-Side Encryption, and Decentralized IPFS Storage.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520440"/>
            <a:ext cx="100584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369A1"/>
                </a:solidFill>
                <a:latin typeface="Calibri"/>
              </a:defRPr>
            </a:pPr>
            <a:r>
              <a:t>CANDIDATE DETAILS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Ashish Anil Sikaria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Register Number: 23BCI0218</a:t>
            </a:r>
            <a:br/>
            <a:r>
              <a:t>Programme: B.Tech Computer Science &amp; Engineering</a:t>
            </a:r>
            <a:br/>
            <a:r>
              <a:t>School: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84048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369A1"/>
                </a:solidFill>
                <a:latin typeface="Calibri"/>
              </a:defRPr>
            </a:pPr>
            <a:r>
              <a:t>FACULTY GUIDE</a:t>
            </a:r>
          </a:p>
          <a:p>
            <a:pPr>
              <a:defRPr sz="2000" b="1">
                <a:solidFill>
                  <a:srgbClr val="0F172A"/>
                </a:solidFill>
                <a:latin typeface="Calibri"/>
              </a:defRPr>
            </a:pPr>
            <a:r>
              <a:t>Prof. SELVI M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Designation: Associate Professor Grade 2</a:t>
            </a:r>
            <a:br/>
            <a:r>
              <a:t>Employee ID: 16106</a:t>
            </a:r>
            <a:br/>
            <a:r>
              <a:t>School: SCOPE • Status: Registered &amp; Approved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ACADEMIC REGISTRATION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Institutional Framework &amp; Project Governance</a:t>
            </a:r>
          </a:p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Approved project parameters under the School of Computer Science &amp; Engineering (SCOPE).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21792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72784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272784"/>
            <a:ext cx="35963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Semester 2026-27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4389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Project Scope &amp; Focus</a:t>
            </a:r>
          </a:p>
          <a:p>
            <a:br/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CareChain addresses fundamental privacy, interoperability, and sovereignty challenges in contemporary Electronic Health Records (EHR).</a:t>
            </a:r>
          </a:p>
          <a:p>
            <a:br/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By synthesizing client-side AES-256 encryption with decentralized IPFS storage and Ethereum smart contract access lists, the project achieves a zero-trust architecture compliant with HIPAA and GDPR standards.</a:t>
            </a:r>
          </a:p>
          <a:p>
            <a:br/>
            <a:pPr>
              <a:defRPr sz="1150" b="1">
                <a:solidFill>
                  <a:srgbClr val="059669"/>
                </a:solidFill>
                <a:latin typeface="Calibri"/>
              </a:defRPr>
            </a:pPr>
            <a:r>
              <a:t>Approval Status: Fully registered and approved under faculty guidance in SCOPE.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1645920"/>
            <a:ext cx="9144" cy="42062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16459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t>COURSE CODE &amp; TITLE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BCSE497J - Project -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2402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t>ACADEMIC SEMESTER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Fall Semester 2026-27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8346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t>COURSE OPTION &amp; DURATION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Regular • 6 Months (General Option)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t>CANDIDATE NAME &amp; REG NO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Ashish Anil Sikaria (23BCI0218)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02336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t>FACULTY GUIDE DETAILS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Prof. SELVI M (Emp ID: 16106, Assoc. Prof. Gr. 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61772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t>ACADEMIC SCHOOL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SCOPE (School of Computer Science &amp; Engineering)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521208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t>PROJECT STATUS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Registered &amp; Approved by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MARKET &amp; INDUSTRY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Crisis in Centralized Healthcare Data</a:t>
            </a:r>
          </a:p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Why traditional hospital electronic record systems fail patients and clinicians alike.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21792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72784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272784"/>
            <a:ext cx="35963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Semester 2026-27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E11D48"/>
                </a:solidFill>
                <a:latin typeface="Calibri"/>
              </a:defRPr>
            </a:pPr>
            <a:r>
              <a:t>133M+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Healthcare Records Breached (2023–2025)</a:t>
            </a:r>
          </a:p>
          <a:p>
            <a:br/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Centralized databases in hospitals and clinics remain the single highest-value targets for ransomware attacks, exposing private patient histories to extortion and black-market monetization.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1737360"/>
            <a:ext cx="36576" cy="1143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691640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Zero Patient Sovereignty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Patients have no direct ownership or real-time visibility into who decrypts, shares, or commercializes their sensitive diagnostic records among third-party brokers.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3154680"/>
            <a:ext cx="36576" cy="1143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3108960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Fragmented Interoperability Silos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Incompatible software architectures across regional clinics cause life-threatening information blind spots in emergency trauma care, forcing redundant tests.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4572000"/>
            <a:ext cx="36576" cy="1143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4526280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Lack of Tamper-Evident Auditing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Relational databases lack cryptographic non-repudiation, permitting unauthorized retrospective alterations of diagnostic records and untraceable access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CareChain Zero-Trust Healthcare Solution</a:t>
            </a:r>
          </a:p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A 3-layer hybrid protocol separating client cryptography, decentralized storage, and on-chain access.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21792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72784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272784"/>
            <a:ext cx="35963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Semester 2026-27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691640"/>
            <a:ext cx="3200400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3200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369A1"/>
                </a:solidFill>
                <a:latin typeface="Calibri"/>
              </a:defRPr>
            </a:pPr>
            <a:r>
              <a:t>LAYER 01 : CLIENT PRIVACY</a:t>
            </a:r>
          </a:p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AES-256-GCM Encryption</a:t>
            </a:r>
          </a:p>
          <a:p>
            <a:br/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All medical files and diagnostic scans are encrypted locally in the patient's browser with unique 256-bit symmetric keys, 12-byte IVs, and 16-byte authentication tags before leaving the device.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691640"/>
            <a:ext cx="3200400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783080"/>
            <a:ext cx="3200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369A1"/>
                </a:solidFill>
                <a:latin typeface="Calibri"/>
              </a:defRPr>
            </a:pPr>
            <a:r>
              <a:t>LAYER 02 : DISTRIBUTED PINNING</a:t>
            </a:r>
          </a:p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IPFS Storage Protocol</a:t>
            </a:r>
          </a:p>
          <a:p>
            <a:br/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Encrypted ciphertexts are pinned across decentralized IPFS nodes, generating immutable Content Identifiers (CIDs). Zero Protected Health Information (PHI) is ever exposed on-chain.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691640"/>
            <a:ext cx="3200400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783080"/>
            <a:ext cx="3200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369A1"/>
                </a:solidFill>
                <a:latin typeface="Calibri"/>
              </a:defRPr>
            </a:pPr>
            <a:r>
              <a:t>LAYER 03 : ACCESS GOVERNANCE</a:t>
            </a:r>
          </a:p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Smart Contract RBAC</a:t>
            </a:r>
          </a:p>
          <a:p>
            <a:br/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Solidity smart contracts enforce isolated patient access matrices (doctorPermissions[p][d]) and emit indexed blockchain events for a verifiable regulatory audit trail.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23560"/>
            <a:ext cx="105457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369A1"/>
                </a:solidFill>
                <a:latin typeface="Calibri"/>
              </a:defRPr>
            </a:pPr>
            <a:r>
              <a:t>REGULATORY COMPLIANCE: HIPAA Security Rule (§164.312) &amp; GDPR Article 17 Crypto-Shredding Compliant.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GLOBAL SUSTAINABILITY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Alignment with UN Sustainable Development Goals</a:t>
            </a:r>
          </a:p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Direct contributions to four primary United Nations 2030 Agenda targets.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21792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72784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272784"/>
            <a:ext cx="35963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Semester 2026-27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691640"/>
            <a:ext cx="1005840" cy="320040"/>
          </a:xfrm>
          <a:prstGeom prst="roundRect">
            <a:avLst/>
          </a:prstGeom>
          <a:solidFill>
            <a:srgbClr val="4C9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SDG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64592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Calibri"/>
              </a:defRPr>
            </a:pPr>
            <a:r>
              <a:t>TARGET 3.8  •  Good Health and Well-Being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Provides portable, tamper-proof medical records across hospital networks and cross-border consultations, reducing diagnostic errors and duplicate testing.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91640"/>
            <a:ext cx="1005840" cy="320040"/>
          </a:xfrm>
          <a:prstGeom prst="roundRect">
            <a:avLst/>
          </a:prstGeom>
          <a:solidFill>
            <a:srgbClr val="FD69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SDG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164592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Calibri"/>
              </a:defRPr>
            </a:pPr>
            <a:r>
              <a:t>TARGET 9.5  •  Industry, Innovation &amp; Infrastructure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Modernizes vulnerable legacy healthcare databases into resilient decentralized infrastructure combining cryptographic ledger security with IPFS.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40480"/>
            <a:ext cx="1005840" cy="320040"/>
          </a:xfrm>
          <a:prstGeom prst="roundRect">
            <a:avLst/>
          </a:prstGeom>
          <a:solidFill>
            <a:srgbClr val="DD13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SDG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379476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Calibri"/>
              </a:defRPr>
            </a:pPr>
            <a:r>
              <a:t>TARGET 10.2  •  Reduced Inequalities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Democratizes patient ownership over health records regardless of socioeconomic status, preventing commercial healthcare monopolies and data lock-in.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40480"/>
            <a:ext cx="1005840" cy="320040"/>
          </a:xfrm>
          <a:prstGeom prst="roundRect">
            <a:avLst/>
          </a:prstGeom>
          <a:solidFill>
            <a:srgbClr val="0068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SDG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379476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F172A"/>
                </a:solidFill>
                <a:latin typeface="Calibri"/>
              </a:defRPr>
            </a:pPr>
            <a:r>
              <a:t>TARGET 16.6  •  Peace, Justice &amp; Strong Institutions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Establishes transparent, immutable on-chain audit trails for clinician licensing and diagnostic issuance, preventing healthcare malpractice fraud.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TECHNICAL MATURITY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Technology Readiness Level (TRL 6 Prototype)</a:t>
            </a:r>
          </a:p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System maturity assessment benchmarked against NASA and EU Horizon frameworks.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21792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72784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272784"/>
            <a:ext cx="35963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Semester 2026-27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246888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19072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Calibri"/>
              </a:defRPr>
            </a:pPr>
            <a:r>
              <a:t>TRL 1 - 3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Concept Formulation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1645920"/>
            <a:ext cx="246888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19072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Calibri"/>
              </a:defRPr>
            </a:pPr>
            <a:r>
              <a:t>TRL 4 - 5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Lab Component Testing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24688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719072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369A1"/>
                </a:solidFill>
                <a:latin typeface="Calibri"/>
              </a:defRPr>
            </a:pPr>
            <a:r>
              <a:t>★ TRL 6 VERIFIED ★</a:t>
            </a:r>
          </a:p>
          <a:p>
            <a:pPr>
              <a:defRPr sz="900">
                <a:solidFill>
                  <a:srgbClr val="0F172A"/>
                </a:solidFill>
                <a:latin typeface="Calibri"/>
              </a:defRPr>
            </a:pPr>
            <a:r>
              <a:t>Demonstrated Working Prototype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1645920"/>
            <a:ext cx="246888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1719072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Calibri"/>
              </a:defRPr>
            </a:pPr>
            <a:r>
              <a:t>TRL 7 - 9</a:t>
            </a:r>
          </a:p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Clinical Trials &amp; Mainnet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60604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  <a:latin typeface="Calibri"/>
              </a:defRPr>
            </a:pPr>
            <a:r>
              <a:t>✓ TRL 6 Verified Deliverables (Today)</a:t>
            </a:r>
          </a:p>
          <a:p>
            <a:br/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Smart Contracts: MedicalRecord.sol deployed with 100% automated test coverage (11/11 Hardhat unit tests passing).</a:t>
            </a:r>
            <a:br/>
            <a:br/>
            <a:r>
              <a:t>• Cryptographic Gateway: Client-side AES-256-GCM symmetric buffer encryption and IPFS pinning via Pinata live.</a:t>
            </a:r>
            <a:br/>
            <a:br/>
            <a:r>
              <a:t>• Role Portals: Production Web3 UI for Patients, Doctors, and Hospital Governance with MetaMask wallet integration.</a:t>
            </a:r>
            <a:br/>
            <a:br/>
            <a:r>
              <a:t>• Enterprise Architecture: Monorepo with CI/CD automation, Docker orchestration, and RBAC middleware.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60604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369A1"/>
                </a:solidFill>
                <a:latin typeface="Calibri"/>
              </a:defRPr>
            </a:pPr>
            <a:r>
              <a:t>➔ Roadmap to TRL 9 (Commercial Deployment)</a:t>
            </a:r>
          </a:p>
          <a:p>
            <a:br/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TRL 7 (Operational Sandbox): Multi-hospital sandbox testing with HL7 FHIR structured data schemas and ERC-4337 Passkeys.</a:t>
            </a:r>
            <a:br/>
            <a:br/>
            <a:r>
              <a:t>• TRL 8 (System Qualification): Formal smart contract security audit (CertiK/OpenZeppelin) and HIPAA/GDPR commercial certification.</a:t>
            </a:r>
            <a:br/>
            <a:br/>
            <a:r>
              <a:t>• TRL 9 (Full Clinical Deployment): Live production mainnet deployment across partner hospital networks and insurance nodes.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COMPETITIVE DIFFERENTIATORS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Novel Innovations Beyond Generic Student Demos</a:t>
            </a:r>
          </a:p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Key cryptographic and architectural features solving real-world clinical challenges.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21792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72784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272784"/>
            <a:ext cx="35963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Semester 2026-27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691640"/>
            <a:ext cx="36576" cy="16459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64592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Break-Glass Emergency Protocol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Solves the unconscious ER patient dilemma: Verified trauma physicians trigger time-delayed cryptographic challenges or multi-guardian signatures backed by on-chain audit penalties.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91640"/>
            <a:ext cx="36576" cy="16459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64592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Zero-Knowledge (ZK) Health Claims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zk-SNARK circuits allow patients to prove clinical trial or insurance eligibility (e.g. HbA1c &lt; 6.5%, age &gt; 18) without disclosing raw medical files or identity.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840480"/>
            <a:ext cx="36576" cy="16459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79476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Gasless Account Abstraction (ERC-4337)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Replaces complex seed phrases and gas tokens with WebAuthn Passkeys (TouchID / FaceID), sponsored by hospital Paymaster relayers.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40480"/>
            <a:ext cx="36576" cy="16459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379476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Soulbound Tokens (SBTs - ERC-5192)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Non-transferable medical credentials minted by state medical boards. If a license is suspended, on-chain decryption permissions are instantly revoked.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VALUE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Multi-Sided Healthcare Economic Impact</a:t>
            </a:r>
          </a:p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Creating tangible value for patients, clinicians, medical researchers, and insurance providers.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21792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72784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272784"/>
            <a:ext cx="35963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Semester 2026-27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691640"/>
            <a:ext cx="2377440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2377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Patients</a:t>
            </a:r>
          </a:p>
          <a:p>
            <a:br/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Complete data sovereignty, zero corporate exploitation, and seamless portable access across medical facilities.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1691640"/>
            <a:ext cx="2377440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783080"/>
            <a:ext cx="2377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Clinicians</a:t>
            </a:r>
          </a:p>
          <a:p>
            <a:br/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Instant verified medical histories, zero diagnostic redundancy, and reduced malpractice liability.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91640"/>
            <a:ext cx="2377440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783080"/>
            <a:ext cx="2377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Researchers</a:t>
            </a:r>
          </a:p>
          <a:p>
            <a:br/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Opt-in Compute-to-Data research pools with automated cryptographic patient micro-rewards.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1691640"/>
            <a:ext cx="2377440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1783080"/>
            <a:ext cx="2377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Insurers</a:t>
            </a:r>
          </a:p>
          <a:p>
            <a:br/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Tamper-proof smart contract claims verification, eliminating fraudulent billing and administrative overhead.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Calibri"/>
              </a:defRPr>
            </a:pPr>
            <a:r>
              <a:t>SYSTEM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583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Functional Prototype Modules &amp; Architecture</a:t>
            </a:r>
          </a:p>
          <a:p>
            <a:pPr>
              <a:defRPr sz="1150">
                <a:solidFill>
                  <a:srgbClr val="64748B"/>
                </a:solidFill>
                <a:latin typeface="Calibri"/>
              </a:defRPr>
            </a:pPr>
            <a:r>
              <a:t>Full-stack role-based architecture operating live on localhost with MetaMask.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37160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6217920"/>
            <a:ext cx="10545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72784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CareChain • Ashish Anil Sikaria (23BCI0218) •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272784"/>
            <a:ext cx="35963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BCSE497J Project - I • Fall Semester 2026-27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691640"/>
            <a:ext cx="36576" cy="16459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64592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Patient Health Vault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Client-side AES-256 file encryption, IPFS pinning via Pinata, and toggleable doctor access control matrix.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91640"/>
            <a:ext cx="36576" cy="16459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64592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Practitioner Portal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Authorized patient EHR lookup, verified clinical diagnostic report uploads, and digital prescription issuance.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840480"/>
            <a:ext cx="36576" cy="16459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79476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Hospital Governance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Practitioner license verification, smart contract telemetry, and HIPAA audit trail log exports.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40480"/>
            <a:ext cx="36576" cy="16459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379476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Calibri"/>
              </a:defRPr>
            </a:pPr>
            <a:r>
              <a:t>Web3 Wallet Layer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Direct MetaMask provider integration alongside off-chain fallback simulation modes for zero-friction evaluation.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22960"/>
            <a:ext cx="9601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369A1"/>
                </a:solidFill>
                <a:latin typeface="Calibri"/>
              </a:defRPr>
            </a:pPr>
            <a:r>
              <a:t>CONCLUSION &amp; PROJECT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18872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CareChain: Redefining Sovereign Healthcare</a:t>
            </a:r>
          </a:p>
          <a:p>
            <a:pPr>
              <a:defRPr sz="1250">
                <a:solidFill>
                  <a:srgbClr val="64748B"/>
                </a:solidFill>
                <a:latin typeface="Calibri"/>
              </a:defRPr>
            </a:pPr>
            <a:r>
              <a:t>CareChain delivers a verified, production-grade protocol for patient-governed electronic health records. Validated with 100% automated test coverage, zero-trust cryptographic security, and mapped against UN SDGs and TRL progression.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3291840"/>
            <a:ext cx="100584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52044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t>CANDIDATE NAME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Ashish Anil Sikaria (23BCI0218)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52044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t>COURSE &amp; SEMESTER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BCSE497J (Project - I) • Fall Semester 2026-27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8912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t>FACULTY GUIDE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Prof. SELVI M (Emp ID: 16106, Associate Professor Grade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38912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t>ACADEMIC DEPARTMENT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SCOPE (School of Computer Science and Engineering)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5780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t>MATURITY LEVEL</a:t>
            </a:r>
          </a:p>
          <a:p>
            <a:pPr>
              <a:defRPr sz="1200" b="1">
                <a:solidFill>
                  <a:srgbClr val="059669"/>
                </a:solidFill>
                <a:latin typeface="Calibri"/>
              </a:defRPr>
            </a:pPr>
            <a:r>
              <a:t>TRL 6 (Demonstrated Prototype in Relevant Environment)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25780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alibri"/>
              </a:defRPr>
            </a:pPr>
            <a:r>
              <a:t>GLOBAL IMPACT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UN SDGs 3.8, 9.5, 10.2, 16.6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